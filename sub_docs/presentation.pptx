
<file path=[Content_Types].xml><?xml version="1.0" encoding="utf-8"?>
<Types xmlns="http://schemas.openxmlformats.org/package/2006/content-types">
  <Default Extension="xml" ContentType="application/xml"/>
  <Default Extension="rels" ContentType="application/vnd.openxmlformats-package.relationships+xml"/>
  <Default Extension="png" ContentType="image/png"/>
  <Override PartName="/docProps/app.xml" ContentType="application/vnd.openxmlformats-officedocument.extended-properties+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theme/theme1.xml" ContentType="application/vnd.openxmlformats-officedocument.theme+xml"/>
  <Override PartName="/ppt/theme/theme2.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docProps/core.xml" ContentType="application/vnd.openxmlformats-package.core-properties+xml"/>
  <Override PartName="/docProps/custom.xml" ContentType="application/vnd.openxmlformats-officedocument.custom-properties+xml"/>
  <Override PartName="/ppt/presentation.xml" ContentType="application/vnd.openxmlformats-officedocument.presentationml.presentation.main+xml"/>
  <Override PartName="/ppt/viewProps.xml" ContentType="application/vnd.openxmlformats-officedocument.presentationml.viewProps+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Types>
</file>

<file path=_rels/.rels><?xml version="1.0" encoding="UTF-8"?><Relationships xmlns="http://schemas.openxmlformats.org/package/2006/relationships"><Relationship Id="rId1" Type="http://schemas.openxmlformats.org/officeDocument/2006/relationships/officeDocument" Target="ppt/presentation.xml" /><Relationship Id="rId2" Type="http://schemas.openxmlformats.org/package/2006/relationships/metadata/core-properties" Target="docProps/core.xml" /><Relationship Id="rId3" Type="http://schemas.openxmlformats.org/package/2006/relationships/metadata/extended-properties" Target="docProps/app.xml" /><Relationship Id="rId4" Type="http://schemas.openxmlformats.org/officeDocument/2006/relationships/custom-properties" Target="docProps/custom.xml" /></Relationships>
</file>

<file path=ppt/presentation.xml><?xml version="1.0" encoding="utf-8"?>
<p:presentation xmlns:a="http://schemas.openxmlformats.org/drawingml/2006/main" xmlns:p="http://schemas.openxmlformats.org/presentationml/2006/main" xmlns:r="http://schemas.openxmlformats.org/officeDocument/2006/relationships" autoCompressPictures="0" saveSubsetFonts="1">
  <p:sldMasterIdLst>
    <p:sldMasterId id="2147483648" r:id="rId1"/>
  </p:sldMasterIdLst>
  <p:sldIdLst>
    <p:sldId id="256" r:id="rId2"/>
    <p:sldId id="257" r:id="rId3"/>
    <p:sldId id="258" r:id="rId4"/>
    <p:sldId id="259" r:id="rId5"/>
    <p:sldId id="260" r:id="rId6"/>
    <p:sldId id="261" r:id="rId7"/>
    <p:sldId id="262" r:id="rId8"/>
    <p:sldId id="263" r:id="rId9"/>
  </p:sldIdLst>
  <p:sldSz cx="9144000" cy="5143500" type="screen16x9"/>
  <p:notesSz cx="6858000" cy="9144000"/>
  <p:defaultTextStyle>
    <a:defPPr>
      <a:defRPr lang="en-US"/>
    </a:defPPr>
    <a:lvl1pPr algn="l" defTabSz="457200" eaLnBrk="1" hangingPunct="1" latinLnBrk="0" marL="0" rtl="0">
      <a:defRPr kern="1200" sz="1800">
        <a:solidFill>
          <a:schemeClr val="tx1"/>
        </a:solidFill>
        <a:latin typeface="+mn-lt"/>
        <a:ea typeface="+mn-ea"/>
        <a:cs typeface="+mn-cs"/>
      </a:defRPr>
    </a:lvl1pPr>
    <a:lvl2pPr algn="l" defTabSz="457200" eaLnBrk="1" hangingPunct="1" latinLnBrk="0" marL="457200" rtl="0">
      <a:defRPr kern="1200" sz="1800">
        <a:solidFill>
          <a:schemeClr val="tx1"/>
        </a:solidFill>
        <a:latin typeface="+mn-lt"/>
        <a:ea typeface="+mn-ea"/>
        <a:cs typeface="+mn-cs"/>
      </a:defRPr>
    </a:lvl2pPr>
    <a:lvl3pPr algn="l" defTabSz="457200" eaLnBrk="1" hangingPunct="1" latinLnBrk="0" marL="914400" rtl="0">
      <a:defRPr kern="1200" sz="1800">
        <a:solidFill>
          <a:schemeClr val="tx1"/>
        </a:solidFill>
        <a:latin typeface="+mn-lt"/>
        <a:ea typeface="+mn-ea"/>
        <a:cs typeface="+mn-cs"/>
      </a:defRPr>
    </a:lvl3pPr>
    <a:lvl4pPr algn="l" defTabSz="457200" eaLnBrk="1" hangingPunct="1" latinLnBrk="0" marL="1371600" rtl="0">
      <a:defRPr kern="1200" sz="1800">
        <a:solidFill>
          <a:schemeClr val="tx1"/>
        </a:solidFill>
        <a:latin typeface="+mn-lt"/>
        <a:ea typeface="+mn-ea"/>
        <a:cs typeface="+mn-cs"/>
      </a:defRPr>
    </a:lvl4pPr>
    <a:lvl5pPr algn="l" defTabSz="457200" eaLnBrk="1" hangingPunct="1" latinLnBrk="0" marL="1828800" rtl="0">
      <a:defRPr kern="1200" sz="1800">
        <a:solidFill>
          <a:schemeClr val="tx1"/>
        </a:solidFill>
        <a:latin typeface="+mn-lt"/>
        <a:ea typeface="+mn-ea"/>
        <a:cs typeface="+mn-cs"/>
      </a:defRPr>
    </a:lvl5pPr>
    <a:lvl6pPr algn="l" defTabSz="457200" eaLnBrk="1" hangingPunct="1" latinLnBrk="0" marL="2286000" rtl="0">
      <a:defRPr kern="1200" sz="1800">
        <a:solidFill>
          <a:schemeClr val="tx1"/>
        </a:solidFill>
        <a:latin typeface="+mn-lt"/>
        <a:ea typeface="+mn-ea"/>
        <a:cs typeface="+mn-cs"/>
      </a:defRPr>
    </a:lvl6pPr>
    <a:lvl7pPr algn="l" defTabSz="457200" eaLnBrk="1" hangingPunct="1" latinLnBrk="0" marL="2743200" rtl="0">
      <a:defRPr kern="1200" sz="1800">
        <a:solidFill>
          <a:schemeClr val="tx1"/>
        </a:solidFill>
        <a:latin typeface="+mn-lt"/>
        <a:ea typeface="+mn-ea"/>
        <a:cs typeface="+mn-cs"/>
      </a:defRPr>
    </a:lvl7pPr>
    <a:lvl8pPr algn="l" defTabSz="457200" eaLnBrk="1" hangingPunct="1" latinLnBrk="0" marL="3200400" rtl="0">
      <a:defRPr kern="1200" sz="1800">
        <a:solidFill>
          <a:schemeClr val="tx1"/>
        </a:solidFill>
        <a:latin typeface="+mn-lt"/>
        <a:ea typeface="+mn-ea"/>
        <a:cs typeface="+mn-cs"/>
      </a:defRPr>
    </a:lvl8pPr>
    <a:lvl9pPr algn="l" defTabSz="457200" eaLnBrk="1" hangingPunct="1" latinLnBrk="0" marL="3657600" rtl="0">
      <a:defRPr kern="1200" sz="18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620" userDrawn="1">
          <p15:clr>
            <a:srgbClr val="A4A3A4"/>
          </p15:clr>
        </p15:guide>
        <p15:guide id="2" pos="28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p="http://schemas.openxmlformats.org/presentationml/2006/main" xmlns:r="http://schemas.openxmlformats.org/officeDocument/2006/relationships">
  <p:normalViewPr>
    <p:restoredLeft autoAdjust="0" sz="15643"/>
    <p:restoredTop autoAdjust="0" sz="94694"/>
  </p:normalViewPr>
  <p:slideViewPr>
    <p:cSldViewPr snapToGrid="0" snapToObjects="1">
      <p:cViewPr varScale="1">
        <p:scale>
          <a:sx d="100" n="161"/>
          <a:sy d="100" n="161"/>
        </p:scale>
        <p:origin x="560" y="200"/>
      </p:cViewPr>
      <p:guideLst>
        <p:guide orient="horz" pos="1620"/>
        <p:guide pos="2880"/>
      </p:guideLst>
    </p:cSldViewPr>
  </p:slideViewPr>
  <p:outlineViewPr>
    <p:cViewPr>
      <p:scale>
        <a:sx d="100" n="33"/>
        <a:sy d="100" n="33"/>
      </p:scale>
      <p:origin x="0" y="0"/>
    </p:cViewPr>
  </p:outlineViewPr>
  <p:notesTextViewPr>
    <p:cViewPr>
      <p:scale>
        <a:sx d="100" n="100"/>
        <a:sy d="100" n="100"/>
      </p:scale>
      <p:origin x="0" y="0"/>
    </p:cViewPr>
  </p:notesTextViewPr>
  <p:gridSpacing cx="76200" cy="76200"/>
</p:viewPr>
</file>

<file path=ppt/_rels/presentation.xml.rels><?xml version="1.0" encoding="UTF-8"?><Relationships xmlns="http://schemas.openxmlformats.org/package/2006/relationships"><Relationship Id="rId2" Type="http://schemas.openxmlformats.org/officeDocument/2006/relationships/slide" Target="slides/slide1.xml" /><Relationship Id="rId3" Type="http://schemas.openxmlformats.org/officeDocument/2006/relationships/slide" Target="slides/slide2.xml" /><Relationship Id="rId4" Type="http://schemas.openxmlformats.org/officeDocument/2006/relationships/slide" Target="slides/slide3.xml" /><Relationship Id="rId5" Type="http://schemas.openxmlformats.org/officeDocument/2006/relationships/slide" Target="slides/slide4.xml" /><Relationship Id="rId6" Type="http://schemas.openxmlformats.org/officeDocument/2006/relationships/slide" Target="slides/slide5.xml" /><Relationship Id="rId7" Type="http://schemas.openxmlformats.org/officeDocument/2006/relationships/slide" Target="slides/slide6.xml" /><Relationship Id="rId8" Type="http://schemas.openxmlformats.org/officeDocument/2006/relationships/slide" Target="slides/slide7.xml" /><Relationship Id="rId9" Type="http://schemas.openxmlformats.org/officeDocument/2006/relationships/slide" Target="slides/slide8.xml" /><Relationship Id="rId11" Type="http://schemas.openxmlformats.org/officeDocument/2006/relationships/viewProps" Target="viewProps.xml" /><Relationship Id="rId10" Type="http://schemas.openxmlformats.org/officeDocument/2006/relationships/presProps" Target="presProps.xml" /><Relationship Id="rId1" Type="http://schemas.openxmlformats.org/officeDocument/2006/relationships/slideMaster" Target="slideMasters/slideMaster1.xml" /><Relationship Id="rId13" Type="http://schemas.openxmlformats.org/officeDocument/2006/relationships/tableStyles" Target="tableStyles.xml" /><Relationship Id="rId12" Type="http://schemas.openxmlformats.org/officeDocument/2006/relationships/theme" Target="theme/theme1.xml" /></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597819"/>
            <a:ext cx="7772400" cy="1102519"/>
          </a:xfrm>
        </p:spPr>
        <p:txBody>
          <a:bodyPr/>
          <a:lstStyle/>
          <a:p>
            <a:r>
              <a:rPr lang="en-US"/>
              <a:t>Click to edit Master title style</a:t>
            </a:r>
          </a:p>
        </p:txBody>
      </p:sp>
      <p:sp>
        <p:nvSpPr>
          <p:cNvPr id="3" name="Subtitle 2"/>
          <p:cNvSpPr>
            <a:spLocks noGrp="1"/>
          </p:cNvSpPr>
          <p:nvPr>
            <p:ph type="subTitle" idx="1"/>
          </p:nvPr>
        </p:nvSpPr>
        <p:spPr>
          <a:xfrm>
            <a:off x="1371600" y="2914650"/>
            <a:ext cx="6400800" cy="1314450"/>
          </a:xfrm>
        </p:spPr>
        <p:txBody>
          <a:bodyPr/>
          <a:lstStyle>
            <a:lvl1pPr marL="0" indent="0" algn="ctr">
              <a:buNone/>
              <a:defRPr>
                <a:solidFill>
                  <a:schemeClr val="tx1">
                    <a:tint val="75000"/>
                  </a:schemeClr>
                </a:solidFill>
              </a:defRPr>
            </a:lvl1pPr>
            <a:lvl2pPr marL="342900" indent="0" algn="ctr">
              <a:buNone/>
              <a:defRPr>
                <a:solidFill>
                  <a:schemeClr val="tx1">
                    <a:tint val="75000"/>
                  </a:schemeClr>
                </a:solidFill>
              </a:defRPr>
            </a:lvl2pPr>
            <a:lvl3pPr marL="685800" indent="0" algn="ctr">
              <a:buNone/>
              <a:defRPr>
                <a:solidFill>
                  <a:schemeClr val="tx1">
                    <a:tint val="75000"/>
                  </a:schemeClr>
                </a:solidFill>
              </a:defRPr>
            </a:lvl3pPr>
            <a:lvl4pPr marL="1028700" indent="0" algn="ctr">
              <a:buNone/>
              <a:defRPr>
                <a:solidFill>
                  <a:schemeClr val="tx1">
                    <a:tint val="75000"/>
                  </a:schemeClr>
                </a:solidFill>
              </a:defRPr>
            </a:lvl4pPr>
            <a:lvl5pPr marL="1371600" indent="0" algn="ctr">
              <a:buNone/>
              <a:defRPr>
                <a:solidFill>
                  <a:schemeClr val="tx1">
                    <a:tint val="75000"/>
                  </a:schemeClr>
                </a:solidFill>
              </a:defRPr>
            </a:lvl5pPr>
            <a:lvl6pPr marL="1714500" indent="0" algn="ctr">
              <a:buNone/>
              <a:defRPr>
                <a:solidFill>
                  <a:schemeClr val="tx1">
                    <a:tint val="75000"/>
                  </a:schemeClr>
                </a:solidFill>
              </a:defRPr>
            </a:lvl6pPr>
            <a:lvl7pPr marL="2057400" indent="0" algn="ctr">
              <a:buNone/>
              <a:defRPr>
                <a:solidFill>
                  <a:schemeClr val="tx1">
                    <a:tint val="75000"/>
                  </a:schemeClr>
                </a:solidFill>
              </a:defRPr>
            </a:lvl7pPr>
            <a:lvl8pPr marL="2400300" indent="0" algn="ctr">
              <a:buNone/>
              <a:defRPr>
                <a:solidFill>
                  <a:schemeClr val="tx1">
                    <a:tint val="75000"/>
                  </a:schemeClr>
                </a:solidFill>
              </a:defRPr>
            </a:lvl8pPr>
            <a:lvl9pPr marL="27432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144435751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3834600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3305176"/>
            <a:ext cx="7772400" cy="1021556"/>
          </a:xfrm>
        </p:spPr>
        <p:txBody>
          <a:bodyPr anchor="t"/>
          <a:lstStyle>
            <a:lvl1pPr algn="l">
              <a:defRPr sz="3000" b="1" cap="all"/>
            </a:lvl1pPr>
          </a:lstStyle>
          <a:p>
            <a:r>
              <a:rPr lang="en-US"/>
              <a:t>Click to edit Master title style</a:t>
            </a:r>
          </a:p>
        </p:txBody>
      </p:sp>
      <p:sp>
        <p:nvSpPr>
          <p:cNvPr id="3" name="Text Placeholder 2"/>
          <p:cNvSpPr>
            <a:spLocks noGrp="1"/>
          </p:cNvSpPr>
          <p:nvPr>
            <p:ph type="body" idx="1"/>
          </p:nvPr>
        </p:nvSpPr>
        <p:spPr>
          <a:xfrm>
            <a:off x="722313" y="2180035"/>
            <a:ext cx="7772400" cy="1125140"/>
          </a:xfrm>
        </p:spPr>
        <p:txBody>
          <a:bodyPr anchor="b"/>
          <a:lstStyle>
            <a:lvl1pPr marL="0" indent="0">
              <a:buNone/>
              <a:defRPr sz="1500">
                <a:solidFill>
                  <a:schemeClr val="tx1">
                    <a:tint val="75000"/>
                  </a:schemeClr>
                </a:solidFill>
              </a:defRPr>
            </a:lvl1pPr>
            <a:lvl2pPr marL="342900" indent="0">
              <a:buNone/>
              <a:defRPr sz="1350">
                <a:solidFill>
                  <a:schemeClr val="tx1">
                    <a:tint val="75000"/>
                  </a:schemeClr>
                </a:solidFill>
              </a:defRPr>
            </a:lvl2pPr>
            <a:lvl3pPr marL="685800" indent="0">
              <a:buNone/>
              <a:defRPr sz="1200">
                <a:solidFill>
                  <a:schemeClr val="tx1">
                    <a:tint val="75000"/>
                  </a:schemeClr>
                </a:solidFill>
              </a:defRPr>
            </a:lvl3pPr>
            <a:lvl4pPr marL="1028700" indent="0">
              <a:buNone/>
              <a:defRPr sz="1050">
                <a:solidFill>
                  <a:schemeClr val="tx1">
                    <a:tint val="75000"/>
                  </a:schemeClr>
                </a:solidFill>
              </a:defRPr>
            </a:lvl4pPr>
            <a:lvl5pPr marL="1371600" indent="0">
              <a:buNone/>
              <a:defRPr sz="1050">
                <a:solidFill>
                  <a:schemeClr val="tx1">
                    <a:tint val="75000"/>
                  </a:schemeClr>
                </a:solidFill>
              </a:defRPr>
            </a:lvl5pPr>
            <a:lvl6pPr marL="1714500" indent="0">
              <a:buNone/>
              <a:defRPr sz="1050">
                <a:solidFill>
                  <a:schemeClr val="tx1">
                    <a:tint val="75000"/>
                  </a:schemeClr>
                </a:solidFill>
              </a:defRPr>
            </a:lvl6pPr>
            <a:lvl7pPr marL="2057400" indent="0">
              <a:buNone/>
              <a:defRPr sz="1050">
                <a:solidFill>
                  <a:schemeClr val="tx1">
                    <a:tint val="75000"/>
                  </a:schemeClr>
                </a:solidFill>
              </a:defRPr>
            </a:lvl7pPr>
            <a:lvl8pPr marL="2400300" indent="0">
              <a:buNone/>
              <a:defRPr sz="1050">
                <a:solidFill>
                  <a:schemeClr val="tx1">
                    <a:tint val="75000"/>
                  </a:schemeClr>
                </a:solidFill>
              </a:defRPr>
            </a:lvl8pPr>
            <a:lvl9pPr marL="2743200" indent="0">
              <a:buNone/>
              <a:defRPr sz="105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107306907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200151"/>
            <a:ext cx="4038600" cy="3394472"/>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200151"/>
            <a:ext cx="4038600" cy="3394472"/>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241EB5C9-1307-BA42-ABA2-0BC069CD8E7F}" type="datetimeFigureOut">
              <a:rPr lang="en-US" smtClean="0"/>
              <a:t>1/2/22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61988624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151335"/>
            <a:ext cx="4040188" cy="47982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4" name="Content Placeholder 3"/>
          <p:cNvSpPr>
            <a:spLocks noGrp="1"/>
          </p:cNvSpPr>
          <p:nvPr>
            <p:ph sz="half" idx="2"/>
          </p:nvPr>
        </p:nvSpPr>
        <p:spPr>
          <a:xfrm>
            <a:off x="457200" y="1631156"/>
            <a:ext cx="4040188" cy="2963466"/>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6" y="1151335"/>
            <a:ext cx="4041775" cy="47982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6" name="Content Placeholder 5"/>
          <p:cNvSpPr>
            <a:spLocks noGrp="1"/>
          </p:cNvSpPr>
          <p:nvPr>
            <p:ph sz="quarter" idx="4"/>
          </p:nvPr>
        </p:nvSpPr>
        <p:spPr>
          <a:xfrm>
            <a:off x="4645026" y="1631156"/>
            <a:ext cx="4041775" cy="2963466"/>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241EB5C9-1307-BA42-ABA2-0BC069CD8E7F}" type="datetimeFigureOut">
              <a:rPr lang="en-US" smtClean="0"/>
              <a:t>1/2/22</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53579396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241EB5C9-1307-BA42-ABA2-0BC069CD8E7F}" type="datetimeFigureOut">
              <a:rPr lang="en-US" smtClean="0"/>
              <a:t>1/2/22</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47272125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241EB5C9-1307-BA42-ABA2-0BC069CD8E7F}" type="datetimeFigureOut">
              <a:rPr lang="en-US" smtClean="0"/>
              <a:t>1/2/22</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13090109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1" y="204787"/>
            <a:ext cx="3008313" cy="871538"/>
          </a:xfrm>
        </p:spPr>
        <p:txBody>
          <a:bodyPr anchor="b"/>
          <a:lstStyle>
            <a:lvl1pPr algn="l">
              <a:defRPr sz="1500" b="1"/>
            </a:lvl1pPr>
          </a:lstStyle>
          <a:p>
            <a:r>
              <a:rPr lang="en-US"/>
              <a:t>Click to edit Master title style</a:t>
            </a:r>
          </a:p>
        </p:txBody>
      </p:sp>
      <p:sp>
        <p:nvSpPr>
          <p:cNvPr id="3" name="Content Placeholder 2"/>
          <p:cNvSpPr>
            <a:spLocks noGrp="1"/>
          </p:cNvSpPr>
          <p:nvPr>
            <p:ph idx="1"/>
          </p:nvPr>
        </p:nvSpPr>
        <p:spPr>
          <a:xfrm>
            <a:off x="3575050" y="204788"/>
            <a:ext cx="5111750" cy="438983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1" y="1076326"/>
            <a:ext cx="3008313" cy="3518297"/>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5" name="Date Placeholder 4"/>
          <p:cNvSpPr>
            <a:spLocks noGrp="1"/>
          </p:cNvSpPr>
          <p:nvPr>
            <p:ph type="dt" sz="half" idx="10"/>
          </p:nvPr>
        </p:nvSpPr>
        <p:spPr/>
        <p:txBody>
          <a:bodyPr/>
          <a:lstStyle/>
          <a:p>
            <a:fld id="{241EB5C9-1307-BA42-ABA2-0BC069CD8E7F}" type="datetimeFigureOut">
              <a:rPr lang="en-US" smtClean="0"/>
              <a:t>1/2/22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54089564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3600450"/>
            <a:ext cx="5486400" cy="425054"/>
          </a:xfrm>
        </p:spPr>
        <p:txBody>
          <a:bodyPr anchor="b"/>
          <a:lstStyle>
            <a:lvl1pPr algn="l">
              <a:defRPr sz="1500" b="1"/>
            </a:lvl1pPr>
          </a:lstStyle>
          <a:p>
            <a:r>
              <a:rPr lang="en-US"/>
              <a:t>Click to edit Master title style</a:t>
            </a:r>
          </a:p>
        </p:txBody>
      </p:sp>
      <p:sp>
        <p:nvSpPr>
          <p:cNvPr id="3" name="Picture Placeholder 2"/>
          <p:cNvSpPr>
            <a:spLocks noGrp="1"/>
          </p:cNvSpPr>
          <p:nvPr>
            <p:ph type="pic" idx="1"/>
          </p:nvPr>
        </p:nvSpPr>
        <p:spPr>
          <a:xfrm>
            <a:off x="1792288" y="459581"/>
            <a:ext cx="5486400" cy="3086100"/>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endParaRPr lang="en-US"/>
          </a:p>
        </p:txBody>
      </p:sp>
      <p:sp>
        <p:nvSpPr>
          <p:cNvPr id="4" name="Text Placeholder 3"/>
          <p:cNvSpPr>
            <a:spLocks noGrp="1"/>
          </p:cNvSpPr>
          <p:nvPr>
            <p:ph type="body" sz="half" idx="2"/>
          </p:nvPr>
        </p:nvSpPr>
        <p:spPr>
          <a:xfrm>
            <a:off x="1792288" y="4025503"/>
            <a:ext cx="5486400" cy="603647"/>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5" name="Date Placeholder 4"/>
          <p:cNvSpPr>
            <a:spLocks noGrp="1"/>
          </p:cNvSpPr>
          <p:nvPr>
            <p:ph type="dt" sz="half" idx="10"/>
          </p:nvPr>
        </p:nvSpPr>
        <p:spPr/>
        <p:txBody>
          <a:bodyPr/>
          <a:lstStyle/>
          <a:p>
            <a:fld id="{241EB5C9-1307-BA42-ABA2-0BC069CD8E7F}" type="datetimeFigureOut">
              <a:rPr lang="en-US" smtClean="0"/>
              <a:t>1/2/22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56689985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1391479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05979"/>
            <a:ext cx="2057400" cy="4388644"/>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05979"/>
            <a:ext cx="6019800" cy="4388644"/>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581529045"/>
      </p:ext>
    </p:extLst>
  </p:cSld>
  <p:clrMapOvr>
    <a:masterClrMapping/>
  </p:clrMapOvr>
</p:sldLayout>
</file>

<file path=ppt/slideMasters/_rels/slideMaster1.xml.rels><?xml version="1.0" encoding="UTF-8"?><Relationships xmlns="http://schemas.openxmlformats.org/package/2006/relationships"><Relationship Id="rId8" Target="../slideLayouts/slideLayout8.xml" Type="http://schemas.openxmlformats.org/officeDocument/2006/relationships/slideLayout" /><Relationship Id="rId3" Target="../slideLayouts/slideLayout3.xml" Type="http://schemas.openxmlformats.org/officeDocument/2006/relationships/slideLayout" /><Relationship Id="rId7" Target="../slideLayouts/slideLayout7.xml" Type="http://schemas.openxmlformats.org/officeDocument/2006/relationships/slideLayout" /><Relationship Id="rId12" Target="../theme/theme1.xml" Type="http://schemas.openxmlformats.org/officeDocument/2006/relationships/theme" /><Relationship Id="rId2" Target="../slideLayouts/slideLayout2.xml" Type="http://schemas.openxmlformats.org/officeDocument/2006/relationships/slideLayout" /><Relationship Id="rId1" Target="../slideLayouts/slideLayout1.xml" Type="http://schemas.openxmlformats.org/officeDocument/2006/relationships/slideLayout" /><Relationship Id="rId6" Target="../slideLayouts/slideLayout6.xml" Type="http://schemas.openxmlformats.org/officeDocument/2006/relationships/slideLayout" /><Relationship Id="rId11" Target="../slideLayouts/slideLayout11.xml" Type="http://schemas.openxmlformats.org/officeDocument/2006/relationships/slideLayout" /><Relationship Id="rId5" Target="../slideLayouts/slideLayout5.xml" Type="http://schemas.openxmlformats.org/officeDocument/2006/relationships/slideLayout" /><Relationship Id="rId10" Target="../slideLayouts/slideLayout10.xml" Type="http://schemas.openxmlformats.org/officeDocument/2006/relationships/slideLayout" /><Relationship Id="rId4" Target="../slideLayouts/slideLayout4.xml" Type="http://schemas.openxmlformats.org/officeDocument/2006/relationships/slideLayout" /><Relationship Id="rId9" Target="../slideLayouts/slideLayout9.xml" Type="http://schemas.openxmlformats.org/officeDocument/2006/relationships/slideLayout" /></Relationships>
</file>

<file path=ppt/slideMasters/slideMaster1.xml><?xml version="1.0" encoding="utf-8"?>
<p:sld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05979"/>
            <a:ext cx="8229600" cy="857250"/>
          </a:xfrm>
          <a:prstGeom prst="rect">
            <a:avLst/>
          </a:prstGeom>
        </p:spPr>
        <p:txBody>
          <a:bodyPr anchor="ctr" bIns="45720" lIns="91440" rIns="91440" rtlCol="0" tIns="45720" vert="horz">
            <a:normAutofit/>
          </a:bodyPr>
          <a:lstStyle/>
          <a:p>
            <a:r>
              <a:rPr lang="en-US"/>
              <a:t>Click to edit Master title style</a:t>
            </a:r>
          </a:p>
        </p:txBody>
      </p:sp>
      <p:sp>
        <p:nvSpPr>
          <p:cNvPr id="3" name="Text Placeholder 2"/>
          <p:cNvSpPr>
            <a:spLocks noGrp="1"/>
          </p:cNvSpPr>
          <p:nvPr>
            <p:ph idx="1" type="body"/>
          </p:nvPr>
        </p:nvSpPr>
        <p:spPr>
          <a:xfrm>
            <a:off x="457200" y="1200151"/>
            <a:ext cx="8229600" cy="3394472"/>
          </a:xfrm>
          <a:prstGeom prst="rect">
            <a:avLst/>
          </a:prstGeom>
        </p:spPr>
        <p:txBody>
          <a:bodyPr bIns="45720" lIns="91440" rIns="91440" rtlCol="0" tIns="45720" vert="horz">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idx="2" sz="half" type="dt"/>
          </p:nvPr>
        </p:nvSpPr>
        <p:spPr>
          <a:xfrm>
            <a:off x="457200" y="4767263"/>
            <a:ext cx="2133600" cy="273844"/>
          </a:xfrm>
          <a:prstGeom prst="rect">
            <a:avLst/>
          </a:prstGeom>
        </p:spPr>
        <p:txBody>
          <a:bodyPr anchor="ctr" bIns="45720" lIns="91440" rIns="91440" rtlCol="0" tIns="45720" vert="horz"/>
          <a:lstStyle>
            <a:lvl1pPr algn="l">
              <a:defRPr sz="900">
                <a:solidFill>
                  <a:schemeClr val="tx1">
                    <a:tint val="75000"/>
                  </a:schemeClr>
                </a:solidFill>
              </a:defRPr>
            </a:lvl1pPr>
          </a:lstStyle>
          <a:p>
            <a:fld id="{241EB5C9-1307-BA42-ABA2-0BC069CD8E7F}" type="datetimeFigureOut">
              <a:rPr lang="en-US" smtClean="0"/>
              <a:t>1/2/22</a:t>
            </a:fld>
            <a:endParaRPr lang="en-US"/>
          </a:p>
        </p:txBody>
      </p:sp>
      <p:sp>
        <p:nvSpPr>
          <p:cNvPr id="5" name="Footer Placeholder 4"/>
          <p:cNvSpPr>
            <a:spLocks noGrp="1"/>
          </p:cNvSpPr>
          <p:nvPr>
            <p:ph idx="3" sz="quarter" type="ftr"/>
          </p:nvPr>
        </p:nvSpPr>
        <p:spPr>
          <a:xfrm>
            <a:off x="3124200" y="4767263"/>
            <a:ext cx="2895600" cy="273844"/>
          </a:xfrm>
          <a:prstGeom prst="rect">
            <a:avLst/>
          </a:prstGeom>
        </p:spPr>
        <p:txBody>
          <a:bodyPr anchor="ctr" bIns="45720" lIns="91440" rIns="91440" rtlCol="0" tIns="45720" vert="horz"/>
          <a:lstStyle>
            <a:lvl1pPr algn="ctr">
              <a:defRPr sz="900">
                <a:solidFill>
                  <a:schemeClr val="tx1">
                    <a:tint val="75000"/>
                  </a:schemeClr>
                </a:solidFill>
              </a:defRPr>
            </a:lvl1pPr>
          </a:lstStyle>
          <a:p>
            <a:endParaRPr lang="en-US"/>
          </a:p>
        </p:txBody>
      </p:sp>
      <p:sp>
        <p:nvSpPr>
          <p:cNvPr id="6" name="Slide Number Placeholder 5"/>
          <p:cNvSpPr>
            <a:spLocks noGrp="1"/>
          </p:cNvSpPr>
          <p:nvPr>
            <p:ph idx="4" sz="quarter" type="sldNum"/>
          </p:nvPr>
        </p:nvSpPr>
        <p:spPr>
          <a:xfrm>
            <a:off x="6553200" y="4767263"/>
            <a:ext cx="2133600" cy="273844"/>
          </a:xfrm>
          <a:prstGeom prst="rect">
            <a:avLst/>
          </a:prstGeom>
        </p:spPr>
        <p:txBody>
          <a:bodyPr anchor="ctr" bIns="45720" lIns="91440" rIns="91440" rtlCol="0" tIns="45720" vert="horz"/>
          <a:lstStyle>
            <a:lvl1pPr algn="r">
              <a:defRPr sz="900">
                <a:solidFill>
                  <a:schemeClr val="tx1">
                    <a:tint val="75000"/>
                  </a:schemeClr>
                </a:solidFill>
              </a:defRPr>
            </a:lvl1pPr>
          </a:lstStyle>
          <a:p>
            <a:fld id="{C5EF2332-01BF-834F-8236-50238282D533}" type="slidenum">
              <a:rPr lang="en-US" smtClean="0"/>
              <a:t>‹#›</a:t>
            </a:fld>
            <a:endParaRPr lang="en-US"/>
          </a:p>
        </p:txBody>
      </p:sp>
    </p:spTree>
    <p:extLst>
      <p:ext uri="{BB962C8B-B14F-4D97-AF65-F5344CB8AC3E}">
        <p14:creationId xmlns:p14="http://schemas.microsoft.com/office/powerpoint/2010/main" val="3676200875"/>
      </p:ext>
    </p:extLst>
  </p:cSld>
  <p:clrMap accent1="accent1" accent2="accent2" accent3="accent3" accent4="accent4" accent5="accent5" accent6="accent6" bg1="lt1" bg2="lt2" folHlink="folHlink" hlink="hlink" tx1="dk1" tx2="dk2"/>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342900" eaLnBrk="1" hangingPunct="1" latinLnBrk="0" rtl="0">
        <a:spcBef>
          <a:spcPct val="0"/>
        </a:spcBef>
        <a:buNone/>
        <a:defRPr kern="1200" sz="3300">
          <a:solidFill>
            <a:schemeClr val="tx1"/>
          </a:solidFill>
          <a:latin typeface="+mj-lt"/>
          <a:ea typeface="+mj-ea"/>
          <a:cs typeface="+mj-cs"/>
        </a:defRPr>
      </a:lvl1pPr>
    </p:titleStyle>
    <p:bodyStyle>
      <a:lvl1pPr algn="l" defTabSz="342900" eaLnBrk="1" hangingPunct="1" indent="-342900" latinLnBrk="0" marL="342900" rtl="0">
        <a:spcBef>
          <a:spcPct val="20000"/>
        </a:spcBef>
        <a:buFont typeface="Arial"/>
        <a:buChar char="•"/>
        <a:defRPr kern="1200" sz="2400">
          <a:solidFill>
            <a:schemeClr val="tx1"/>
          </a:solidFill>
          <a:latin typeface="+mn-lt"/>
          <a:ea typeface="+mn-ea"/>
          <a:cs typeface="+mn-cs"/>
        </a:defRPr>
      </a:lvl1pPr>
      <a:lvl2pPr algn="l" defTabSz="342900" eaLnBrk="1" hangingPunct="1" indent="-342900" latinLnBrk="0" marL="685800" rtl="0">
        <a:spcBef>
          <a:spcPct val="20000"/>
        </a:spcBef>
        <a:buFont typeface="Arial"/>
        <a:buChar char="–"/>
        <a:defRPr kern="1200" sz="2100">
          <a:solidFill>
            <a:schemeClr val="tx1"/>
          </a:solidFill>
          <a:latin typeface="+mn-lt"/>
          <a:ea typeface="+mn-ea"/>
          <a:cs typeface="+mn-cs"/>
        </a:defRPr>
      </a:lvl2pPr>
      <a:lvl3pPr algn="l" defTabSz="342900" eaLnBrk="1" hangingPunct="1" indent="-342900" latinLnBrk="0" marL="1028700" rtl="0">
        <a:spcBef>
          <a:spcPct val="20000"/>
        </a:spcBef>
        <a:buFont typeface="Arial"/>
        <a:buChar char="•"/>
        <a:defRPr kern="1200" sz="1800">
          <a:solidFill>
            <a:schemeClr val="tx1"/>
          </a:solidFill>
          <a:latin typeface="+mn-lt"/>
          <a:ea typeface="+mn-ea"/>
          <a:cs typeface="+mn-cs"/>
        </a:defRPr>
      </a:lvl3pPr>
      <a:lvl4pPr algn="l" defTabSz="342900" eaLnBrk="1" hangingPunct="1" indent="-342900" latinLnBrk="0" marL="1371600" rtl="0">
        <a:spcBef>
          <a:spcPct val="20000"/>
        </a:spcBef>
        <a:buFont typeface="Arial"/>
        <a:buChar char="–"/>
        <a:defRPr kern="1200" sz="1500">
          <a:solidFill>
            <a:schemeClr val="tx1"/>
          </a:solidFill>
          <a:latin typeface="+mn-lt"/>
          <a:ea typeface="+mn-ea"/>
          <a:cs typeface="+mn-cs"/>
        </a:defRPr>
      </a:lvl4pPr>
      <a:lvl5pPr algn="l" defTabSz="342900" eaLnBrk="1" hangingPunct="1" indent="-342900" latinLnBrk="0" marL="1714500" rtl="0">
        <a:spcBef>
          <a:spcPct val="20000"/>
        </a:spcBef>
        <a:buFont typeface="Arial"/>
        <a:buChar char="»"/>
        <a:defRPr kern="1200" sz="1500">
          <a:solidFill>
            <a:schemeClr val="tx1"/>
          </a:solidFill>
          <a:latin typeface="+mn-lt"/>
          <a:ea typeface="+mn-ea"/>
          <a:cs typeface="+mn-cs"/>
        </a:defRPr>
      </a:lvl5pPr>
      <a:lvl6pPr algn="l" defTabSz="342900" eaLnBrk="1" hangingPunct="1" indent="-342900" latinLnBrk="0" marL="2057400" rtl="0">
        <a:spcBef>
          <a:spcPct val="20000"/>
        </a:spcBef>
        <a:buFont typeface="Arial"/>
        <a:buChar char="•"/>
        <a:defRPr kern="1200" sz="1500">
          <a:solidFill>
            <a:schemeClr val="tx1"/>
          </a:solidFill>
          <a:latin typeface="+mn-lt"/>
          <a:ea typeface="+mn-ea"/>
          <a:cs typeface="+mn-cs"/>
        </a:defRPr>
      </a:lvl6pPr>
      <a:lvl7pPr algn="l" defTabSz="342900" eaLnBrk="1" hangingPunct="1" indent="-342900" latinLnBrk="0" marL="2400300" rtl="0">
        <a:spcBef>
          <a:spcPct val="20000"/>
        </a:spcBef>
        <a:buFont typeface="Arial"/>
        <a:buChar char="•"/>
        <a:defRPr kern="1200" sz="1500">
          <a:solidFill>
            <a:schemeClr val="tx1"/>
          </a:solidFill>
          <a:latin typeface="+mn-lt"/>
          <a:ea typeface="+mn-ea"/>
          <a:cs typeface="+mn-cs"/>
        </a:defRPr>
      </a:lvl7pPr>
      <a:lvl8pPr algn="l" defTabSz="342900" eaLnBrk="1" hangingPunct="1" indent="-342900" latinLnBrk="0" marL="2743200" rtl="0">
        <a:spcBef>
          <a:spcPct val="20000"/>
        </a:spcBef>
        <a:buFont typeface="Arial"/>
        <a:buChar char="•"/>
        <a:defRPr kern="1200" sz="1500">
          <a:solidFill>
            <a:schemeClr val="tx1"/>
          </a:solidFill>
          <a:latin typeface="+mn-lt"/>
          <a:ea typeface="+mn-ea"/>
          <a:cs typeface="+mn-cs"/>
        </a:defRPr>
      </a:lvl8pPr>
      <a:lvl9pPr algn="l" defTabSz="342900" eaLnBrk="1" hangingPunct="1" indent="-342900" latinLnBrk="0" marL="3086100" rtl="0">
        <a:spcBef>
          <a:spcPct val="20000"/>
        </a:spcBef>
        <a:buFont typeface="Arial"/>
        <a:buChar char="•"/>
        <a:defRPr kern="1200" sz="1500">
          <a:solidFill>
            <a:schemeClr val="tx1"/>
          </a:solidFill>
          <a:latin typeface="+mn-lt"/>
          <a:ea typeface="+mn-ea"/>
          <a:cs typeface="+mn-cs"/>
        </a:defRPr>
      </a:lvl9pPr>
    </p:bodyStyle>
    <p:otherStyle>
      <a:defPPr>
        <a:defRPr lang="en-US"/>
      </a:defPPr>
      <a:lvl1pPr algn="l" defTabSz="342900" eaLnBrk="1" hangingPunct="1" latinLnBrk="0" marL="0" rtl="0">
        <a:defRPr kern="1200" sz="1350">
          <a:solidFill>
            <a:schemeClr val="tx1"/>
          </a:solidFill>
          <a:latin typeface="+mn-lt"/>
          <a:ea typeface="+mn-ea"/>
          <a:cs typeface="+mn-cs"/>
        </a:defRPr>
      </a:lvl1pPr>
      <a:lvl2pPr algn="l" defTabSz="342900" eaLnBrk="1" hangingPunct="1" latinLnBrk="0" marL="342900" rtl="0">
        <a:defRPr kern="1200" sz="1350">
          <a:solidFill>
            <a:schemeClr val="tx1"/>
          </a:solidFill>
          <a:latin typeface="+mn-lt"/>
          <a:ea typeface="+mn-ea"/>
          <a:cs typeface="+mn-cs"/>
        </a:defRPr>
      </a:lvl2pPr>
      <a:lvl3pPr algn="l" defTabSz="342900" eaLnBrk="1" hangingPunct="1" latinLnBrk="0" marL="685800" rtl="0">
        <a:defRPr kern="1200" sz="1350">
          <a:solidFill>
            <a:schemeClr val="tx1"/>
          </a:solidFill>
          <a:latin typeface="+mn-lt"/>
          <a:ea typeface="+mn-ea"/>
          <a:cs typeface="+mn-cs"/>
        </a:defRPr>
      </a:lvl3pPr>
      <a:lvl4pPr algn="l" defTabSz="342900" eaLnBrk="1" hangingPunct="1" latinLnBrk="0" marL="1028700" rtl="0">
        <a:defRPr kern="1200" sz="1350">
          <a:solidFill>
            <a:schemeClr val="tx1"/>
          </a:solidFill>
          <a:latin typeface="+mn-lt"/>
          <a:ea typeface="+mn-ea"/>
          <a:cs typeface="+mn-cs"/>
        </a:defRPr>
      </a:lvl4pPr>
      <a:lvl5pPr algn="l" defTabSz="342900" eaLnBrk="1" hangingPunct="1" latinLnBrk="0" marL="1371600" rtl="0">
        <a:defRPr kern="1200" sz="1350">
          <a:solidFill>
            <a:schemeClr val="tx1"/>
          </a:solidFill>
          <a:latin typeface="+mn-lt"/>
          <a:ea typeface="+mn-ea"/>
          <a:cs typeface="+mn-cs"/>
        </a:defRPr>
      </a:lvl5pPr>
      <a:lvl6pPr algn="l" defTabSz="342900" eaLnBrk="1" hangingPunct="1" latinLnBrk="0" marL="1714500" rtl="0">
        <a:defRPr kern="1200" sz="1350">
          <a:solidFill>
            <a:schemeClr val="tx1"/>
          </a:solidFill>
          <a:latin typeface="+mn-lt"/>
          <a:ea typeface="+mn-ea"/>
          <a:cs typeface="+mn-cs"/>
        </a:defRPr>
      </a:lvl6pPr>
      <a:lvl7pPr algn="l" defTabSz="342900" eaLnBrk="1" hangingPunct="1" latinLnBrk="0" marL="2057400" rtl="0">
        <a:defRPr kern="1200" sz="1350">
          <a:solidFill>
            <a:schemeClr val="tx1"/>
          </a:solidFill>
          <a:latin typeface="+mn-lt"/>
          <a:ea typeface="+mn-ea"/>
          <a:cs typeface="+mn-cs"/>
        </a:defRPr>
      </a:lvl7pPr>
      <a:lvl8pPr algn="l" defTabSz="342900" eaLnBrk="1" hangingPunct="1" latinLnBrk="0" marL="2400300" rtl="0">
        <a:defRPr kern="1200" sz="1350">
          <a:solidFill>
            <a:schemeClr val="tx1"/>
          </a:solidFill>
          <a:latin typeface="+mn-lt"/>
          <a:ea typeface="+mn-ea"/>
          <a:cs typeface="+mn-cs"/>
        </a:defRPr>
      </a:lvl8pPr>
      <a:lvl9pPr algn="l" defTabSz="342900" eaLnBrk="1" hangingPunct="1" latinLnBrk="0" marL="2743200" rtl="0">
        <a:defRPr kern="1200" sz="1350">
          <a:solidFill>
            <a:schemeClr val="tx1"/>
          </a:solidFill>
          <a:latin typeface="+mn-lt"/>
          <a:ea typeface="+mn-ea"/>
          <a:cs typeface="+mn-cs"/>
        </a:defRPr>
      </a:lvl9pPr>
    </p:otherStyle>
  </p:txStyles>
</p:sldMaster>
</file>

<file path=ppt/slides/_rels/slide1.xml.rels><?xml version="1.0" encoding="UTF-8"?><Relationships xmlns="http://schemas.openxmlformats.org/package/2006/relationships"><Relationship Id="rId1" Type="http://schemas.openxmlformats.org/officeDocument/2006/relationships/slideLayout" Target="../slideLayouts/slideLayout1.xml" /></Relationships>
</file>

<file path=ppt/slides/_rels/slide2.xml.rels><?xml version="1.0" encoding="UTF-8"?><Relationships xmlns="http://schemas.openxmlformats.org/package/2006/relationships"><Relationship Id="rId1" Type="http://schemas.openxmlformats.org/officeDocument/2006/relationships/slideLayout" Target="../slideLayouts/slideLayout8.xml" /><Relationship Id="rId2" Type="http://schemas.openxmlformats.org/officeDocument/2006/relationships/image" Target="../media/image1.png" /></Relationships>
</file>

<file path=ppt/slides/_rels/slide3.xml.rels><?xml version="1.0" encoding="UTF-8"?><Relationships xmlns="http://schemas.openxmlformats.org/package/2006/relationships"><Relationship Id="rId1" Type="http://schemas.openxmlformats.org/officeDocument/2006/relationships/slideLayout" Target="../slideLayouts/slideLayout2.xml" /><Relationship Id="rId5" Type="http://schemas.openxmlformats.org/officeDocument/2006/relationships/image" Target="../media/image5.png" /><Relationship Id="rId4" Type="http://schemas.openxmlformats.org/officeDocument/2006/relationships/image" Target="../media/image4.png" /><Relationship Id="rId3" Type="http://schemas.openxmlformats.org/officeDocument/2006/relationships/image" Target="../media/image3.png" /><Relationship Id="rId2" Type="http://schemas.openxmlformats.org/officeDocument/2006/relationships/image" Target="../media/image2.png" /></Relationships>
</file>

<file path=ppt/slides/_rels/slide4.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5.xml.rels><?xml version="1.0" encoding="UTF-8"?><Relationships xmlns="http://schemas.openxmlformats.org/package/2006/relationships"><Relationship Id="rId1" Type="http://schemas.openxmlformats.org/officeDocument/2006/relationships/slideLayout" Target="../slideLayouts/slideLayout8.xml" /></Relationships>
</file>

<file path=ppt/slides/_rels/slide6.xml.rels><?xml version="1.0" encoding="UTF-8"?><Relationships xmlns="http://schemas.openxmlformats.org/package/2006/relationships"><Relationship Id="rId1" Type="http://schemas.openxmlformats.org/officeDocument/2006/relationships/slideLayout" Target="../slideLayouts/slideLayout8.xml" /></Relationships>
</file>

<file path=ppt/slides/_rels/slide7.xml.rels><?xml version="1.0" encoding="UTF-8"?><Relationships xmlns="http://schemas.openxmlformats.org/package/2006/relationships"><Relationship Id="rId1" Type="http://schemas.openxmlformats.org/officeDocument/2006/relationships/slideLayout" Target="../slideLayouts/slideLayout8.xml" /><Relationship Id="rId5" Type="http://schemas.openxmlformats.org/officeDocument/2006/relationships/image" Target="../media/image9.png" /><Relationship Id="rId4" Type="http://schemas.openxmlformats.org/officeDocument/2006/relationships/image" Target="../media/image8.png" /><Relationship Id="rId3" Type="http://schemas.openxmlformats.org/officeDocument/2006/relationships/image" Target="../media/image7.png" /><Relationship Id="rId2" Type="http://schemas.openxmlformats.org/officeDocument/2006/relationships/image" Target="../media/image6.png" /></Relationships>
</file>

<file path=ppt/slides/_rels/slide8.xml.rels><?xml version="1.0" encoding="UTF-8"?><Relationships xmlns="http://schemas.openxmlformats.org/package/2006/relationships"><Relationship Id="rId1" Type="http://schemas.openxmlformats.org/officeDocument/2006/relationships/slideLayout" Target="../slideLayouts/slideLayout8.xml" /><Relationship Id="rId5" Type="http://schemas.openxmlformats.org/officeDocument/2006/relationships/image" Target="../media/image13.png" /><Relationship Id="rId4" Type="http://schemas.openxmlformats.org/officeDocument/2006/relationships/image" Target="../media/image12.png" /><Relationship Id="rId3" Type="http://schemas.openxmlformats.org/officeDocument/2006/relationships/image" Target="../media/image11.png" /><Relationship Id="rId2" Type="http://schemas.openxmlformats.org/officeDocument/2006/relationships/image" Target="../media/image10.png" /></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597819"/>
            <a:ext cx="7772400" cy="1102519"/>
          </a:xfrm>
        </p:spPr>
        <p:txBody>
          <a:bodyPr/>
          <a:lstStyle/>
          <a:p>
            <a:pPr lvl="0" indent="0" marL="0">
              <a:buNone/>
            </a:pPr>
            <a:r>
              <a:rPr b="1"/>
              <a:t>BTP Report</a:t>
            </a:r>
          </a:p>
        </p:txBody>
      </p:sp>
      <p:sp>
        <p:nvSpPr>
          <p:cNvPr id="3" name="Subtitle 2"/>
          <p:cNvSpPr>
            <a:spLocks noGrp="1"/>
          </p:cNvSpPr>
          <p:nvPr>
            <p:ph idx="1" type="subTitle"/>
          </p:nvPr>
        </p:nvSpPr>
        <p:spPr>
          <a:xfrm>
            <a:off x="1371600" y="2914650"/>
            <a:ext cx="6400800" cy="1314450"/>
          </a:xfrm>
        </p:spPr>
        <p:txBody>
          <a:bodyPr/>
          <a:lstStyle/>
          <a:p>
            <a:pPr lvl="0" indent="0" marL="0">
              <a:buNone/>
            </a:pPr>
            <a:r>
              <a:rPr/>
              <a:t>Himani Sharma</a:t>
            </a:r>
            <a:br/>
            <a:r>
              <a:rPr/>
              <a:t>2022102032</a:t>
            </a:r>
          </a:p>
        </p:txBody>
      </p:sp>
      <p:sp>
        <p:nvSpPr>
          <p:cNvPr id="4" name="Date Placeholder 3"/>
          <p:cNvSpPr>
            <a:spLocks noGrp="1"/>
          </p:cNvSpPr>
          <p:nvPr>
            <p:ph idx="10" sz="half" type="dt"/>
          </p:nvPr>
        </p:nvSpPr>
        <p:spPr/>
        <p:txBody>
          <a:bodyPr/>
          <a:lstStyle/>
          <a:p>
            <a:pPr lvl="0" indent="0" marL="0">
              <a:buNone/>
            </a:pPr>
            <a:r>
              <a:rPr/>
              <a:t>September 2025</a:t>
            </a:r>
          </a:p>
        </p:txBody>
      </p:sp>
    </p:spTree>
  </p:cSld>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1" y="204787"/>
            <a:ext cx="3008313" cy="871538"/>
          </a:xfrm>
        </p:spPr>
        <p:txBody>
          <a:bodyPr/>
          <a:lstStyle/>
          <a:p>
            <a:pPr lvl="0" indent="0" marL="0">
              <a:buNone/>
            </a:pPr>
            <a:r>
              <a:rPr/>
              <a:t>Problem setup and design requirements</a:t>
            </a:r>
          </a:p>
        </p:txBody>
      </p:sp>
      <mc:AlternateContent xmlns:mc="http://schemas.openxmlformats.org/markup-compatibility/2006">
        <mc:Choice xmlns:a14="http://schemas.microsoft.com/office/drawing/2010/main" Requires="a14">
          <p:sp>
            <p:nvSpPr>
              <p:cNvPr id="4" name="Text Placeholder 3"/>
              <p:cNvSpPr>
                <a:spLocks noGrp="1"/>
              </p:cNvSpPr>
              <p:nvPr>
                <p:ph idx="2" sz="half" type="body"/>
              </p:nvPr>
            </p:nvSpPr>
            <p:spPr/>
            <p:txBody>
              <a:bodyPr/>
              <a:lstStyle/>
              <a:p>
                <a:pPr lvl="0" indent="0" marL="0">
                  <a:spcBef>
                    <a:spcPts val="3000"/>
                  </a:spcBef>
                  <a:buNone/>
                </a:pPr>
                <a:r>
                  <a:rPr b="1"/>
                  <a:t>Problem Understanding</a:t>
                </a:r>
              </a:p>
              <a:p>
                <a:pPr lvl="0" indent="0" marL="0">
                  <a:buNone/>
                </a:pPr>
                <a:r>
                  <a:rPr/>
                  <a:t>The system consists of an inverted pendulum mounted to a motorized cart.</a:t>
                </a:r>
              </a:p>
              <a:p>
                <a:pPr lvl="0" indent="0" marL="0">
                  <a:buNone/>
                </a:pPr>
                <a:r>
                  <a:rPr b="1"/>
                  <a:t>Features of this system:</a:t>
                </a:r>
              </a:p>
              <a:p>
                <a:pPr lvl="0" indent="-342900" marL="342900">
                  <a:buAutoNum type="arabicPeriod"/>
                </a:pPr>
                <a:r>
                  <a:rPr/>
                  <a:t>It is unstable without control, i.e., the pendulum will simply fall over if the cart isn’t moved to balance it.</a:t>
                </a:r>
              </a:p>
              <a:p>
                <a:pPr lvl="0" indent="-342900" marL="342900">
                  <a:buAutoNum type="arabicPeriod"/>
                </a:pPr>
                <a:r>
                  <a:rPr/>
                  <a:t>The dynamics of the system are nonlinear.</a:t>
                </a:r>
              </a:p>
              <a:p>
                <a:pPr lvl="0" indent="0" marL="0">
                  <a:buNone/>
                </a:pPr>
                <a:r>
                  <a:rPr b="1"/>
                  <a:t>Objective:</a:t>
                </a:r>
              </a:p>
              <a:p>
                <a:pPr lvl="0" indent="0" marL="0">
                  <a:buNone/>
                </a:pPr>
                <a:r>
                  <a:rPr/>
                  <a:t>The objective of the control system is to balance the inverted pendulum by applying a</a:t>
                </a:r>
              </a:p>
              <a:p>
                <a:pPr lvl="0" indent="0" marL="0">
                  <a:buNone/>
                </a:pPr>
                <a:r>
                  <a:rPr/>
                  <a:t>force to the cart that the pendulum is attached to.</a:t>
                </a:r>
              </a:p>
              <a:p>
                <a:pPr lvl="0" indent="0" marL="0">
                  <a:buNone/>
                </a:pPr>
                <a:r>
                  <a:rPr b="1"/>
                  <a:t>Assumption:</a:t>
                </a:r>
              </a:p>
              <a:p>
                <a:pPr lvl="0" indent="0" marL="0">
                  <a:buNone/>
                </a:pPr>
                <a:r>
                  <a:rPr/>
                  <a:t>We consider a two-dimensional problem where the pendulum is constrained to move in</a:t>
                </a:r>
              </a:p>
              <a:p>
                <a:pPr lvl="0" indent="0" marL="0">
                  <a:buNone/>
                </a:pPr>
                <a:r>
                  <a:rPr/>
                  <a:t>the vertical plane. For this system:</a:t>
                </a:r>
              </a:p>
              <a:p>
                <a:pPr lvl="0"/>
                <a:r>
                  <a:rPr/>
                  <a:t>The control input is the force </a:t>
                </a:r>
                <a14:m>
                  <m:oMath xmlns:m="http://schemas.openxmlformats.org/officeDocument/2006/math">
                    <m:r>
                      <m:t>F</m:t>
                    </m:r>
                  </m:oMath>
                </a14:m>
                <a:r>
                  <a:rPr/>
                  <a:t> that moves the cart horizontally.</a:t>
                </a:r>
              </a:p>
              <a:p>
                <a:pPr lvl="0"/>
                <a:r>
                  <a:rPr/>
                  <a:t>The outputs are the angular position of the pendulum </a:t>
                </a:r>
                <a14:m>
                  <m:oMath xmlns:m="http://schemas.openxmlformats.org/officeDocument/2006/math">
                    <m:r>
                      <m:t>θ</m:t>
                    </m:r>
                  </m:oMath>
                </a14:m>
                <a:r>
                  <a:rPr/>
                  <a:t> and the horizontal position of the cart </a:t>
                </a:r>
                <a14:m>
                  <m:oMath xmlns:m="http://schemas.openxmlformats.org/officeDocument/2006/math">
                    <m:r>
                      <m:t>x</m:t>
                    </m:r>
                  </m:oMath>
                </a14:m>
                <a:r>
                  <a:rPr/>
                  <a:t>.</a:t>
                </a:r>
              </a:p>
            </p:txBody>
          </p:sp>
        </mc:Choice>
      </mc:AlternateContent>
      <p:pic>
        <p:nvPicPr>
          <p:cNvPr descr="media/rId9.png" id="0" name="Picture 1"/>
          <p:cNvPicPr>
            <a:picLocks noGrp="1" noChangeAspect="1"/>
          </p:cNvPicPr>
          <p:nvPr/>
        </p:nvPicPr>
        <p:blipFill>
          <a:blip r:embed="rId2"/>
          <a:stretch>
            <a:fillRect/>
          </a:stretch>
        </p:blipFill>
        <p:spPr bwMode="auto">
          <a:xfrm>
            <a:off x="3568700" y="596900"/>
            <a:ext cx="5105400" cy="3594100"/>
          </a:xfrm>
          <a:prstGeom prst="rect">
            <a:avLst/>
          </a:prstGeom>
          <a:noFill/>
          <a:ln w="9525">
            <a:noFill/>
            <a:headEnd/>
            <a:tailEnd/>
          </a:ln>
        </p:spPr>
      </p:pic>
      <mc:AlternateContent xmlns:mc="http://schemas.openxmlformats.org/markup-compatibility/2006">
        <mc:Choice xmlns:a14="http://schemas.microsoft.com/office/drawing/2010/main" Requires="a14">
          <p:sp>
            <p:nvSpPr>
              <p:cNvPr id="3" name="Content Placeholder 2"/>
              <p:cNvSpPr>
                <a:spLocks noGrp="1"/>
              </p:cNvSpPr>
              <p:nvPr>
                <p:ph idx="1"/>
              </p:nvPr>
            </p:nvSpPr>
            <p:spPr/>
            <p:txBody>
              <a:bodyPr/>
              <a:lstStyle/>
              <a:p>
                <a:pPr lvl="0" indent="0" marL="0">
                  <a:spcBef>
                    <a:spcPts val="3000"/>
                  </a:spcBef>
                  <a:buNone/>
                </a:pPr>
                <a:r>
                  <a:rPr b="1"/>
                  <a:t>System Parameters</a:t>
                </a:r>
              </a:p>
              <a:p>
                <a:pPr lvl="0" indent="0" marL="0">
                  <a:buNone/>
                </a:pPr>
                <a:r>
                  <a:rPr/>
                  <a:t>For this example, let’s assume the following quantities:</a:t>
                </a:r>
              </a:p>
              <a:p>
                <a:pPr lvl="0"/>
                <a14:m>
                  <m:oMath xmlns:m="http://schemas.openxmlformats.org/officeDocument/2006/math">
                    <m:r>
                      <m:t>M</m:t>
                    </m:r>
                  </m:oMath>
                </a14:m>
                <a:r>
                  <a:rPr/>
                  <a:t> Mass of the cart </a:t>
                </a:r>
                <a14:m>
                  <m:oMath xmlns:m="http://schemas.openxmlformats.org/officeDocument/2006/math">
                    <m:r>
                      <m:t>0.5</m:t>
                    </m:r>
                    <m:r>
                      <m:t> </m:t>
                    </m:r>
                    <m:r>
                      <m:rPr>
                        <m:nor/>
                        <m:sty m:val="p"/>
                      </m:rPr>
                      <m:t>kg</m:t>
                    </m:r>
                  </m:oMath>
                </a14:m>
              </a:p>
              <a:p>
                <a:pPr lvl="0"/>
                <a14:m>
                  <m:oMath xmlns:m="http://schemas.openxmlformats.org/officeDocument/2006/math">
                    <m:r>
                      <m:t>m</m:t>
                    </m:r>
                  </m:oMath>
                </a14:m>
                <a:r>
                  <a:rPr/>
                  <a:t> Mass of the pendulum </a:t>
                </a:r>
                <a14:m>
                  <m:oMath xmlns:m="http://schemas.openxmlformats.org/officeDocument/2006/math">
                    <m:r>
                      <m:t>0.2</m:t>
                    </m:r>
                    <m:r>
                      <m:t> </m:t>
                    </m:r>
                    <m:r>
                      <m:rPr>
                        <m:nor/>
                        <m:sty m:val="p"/>
                      </m:rPr>
                      <m:t>kg</m:t>
                    </m:r>
                  </m:oMath>
                </a14:m>
              </a:p>
              <a:p>
                <a:pPr lvl="0"/>
                <a14:m>
                  <m:oMath xmlns:m="http://schemas.openxmlformats.org/officeDocument/2006/math">
                    <m:r>
                      <m:t>b</m:t>
                    </m:r>
                  </m:oMath>
                </a14:m>
                <a:r>
                  <a:rPr/>
                  <a:t> Coefficient of friction for cart </a:t>
                </a:r>
                <a14:m>
                  <m:oMath xmlns:m="http://schemas.openxmlformats.org/officeDocument/2006/math">
                    <m:r>
                      <m:t>0.1</m:t>
                    </m:r>
                    <m:r>
                      <m:t> </m:t>
                    </m:r>
                    <m:r>
                      <m:rPr>
                        <m:nor/>
                        <m:sty m:val="p"/>
                      </m:rPr>
                      <m:t>N/m/sec</m:t>
                    </m:r>
                  </m:oMath>
                </a14:m>
              </a:p>
              <a:p>
                <a:pPr lvl="0"/>
                <a14:m>
                  <m:oMath xmlns:m="http://schemas.openxmlformats.org/officeDocument/2006/math">
                    <m:r>
                      <m:t>l</m:t>
                    </m:r>
                  </m:oMath>
                </a14:m>
                <a:r>
                  <a:rPr/>
                  <a:t> Length to pendulum center of mass </a:t>
                </a:r>
                <a14:m>
                  <m:oMath xmlns:m="http://schemas.openxmlformats.org/officeDocument/2006/math">
                    <m:r>
                      <m:t>0.3</m:t>
                    </m:r>
                    <m:r>
                      <m:t> </m:t>
                    </m:r>
                    <m:r>
                      <m:rPr>
                        <m:nor/>
                        <m:sty m:val="p"/>
                      </m:rPr>
                      <m:t>m</m:t>
                    </m:r>
                  </m:oMath>
                </a14:m>
              </a:p>
              <a:p>
                <a:pPr lvl="0"/>
                <a14:m>
                  <m:oMath xmlns:m="http://schemas.openxmlformats.org/officeDocument/2006/math">
                    <m:r>
                      <m:t>I</m:t>
                    </m:r>
                  </m:oMath>
                </a14:m>
                <a:r>
                  <a:rPr/>
                  <a:t> Mass moment of inertia of the pendulum </a:t>
                </a:r>
                <a14:m>
                  <m:oMath xmlns:m="http://schemas.openxmlformats.org/officeDocument/2006/math">
                    <m:r>
                      <m:t>0.006</m:t>
                    </m:r>
                    <m:r>
                      <m:t> </m:t>
                    </m:r>
                    <m:r>
                      <m:rPr>
                        <m:nor/>
                        <m:sty m:val="p"/>
                      </m:rPr>
                      <m:t>kg</m:t>
                    </m:r>
                    <m:r>
                      <m:rPr>
                        <m:sty m:val="p"/>
                      </m:rPr>
                      <m:t>⋅</m:t>
                    </m:r>
                    <m:sSup>
                      <m:e>
                        <m:r>
                          <m:rPr>
                            <m:nor/>
                            <m:sty m:val="p"/>
                          </m:rPr>
                          <m:t>m</m:t>
                        </m:r>
                      </m:e>
                      <m:sup>
                        <m:r>
                          <m:t>2</m:t>
                        </m:r>
                      </m:sup>
                    </m:sSup>
                  </m:oMath>
                </a14:m>
              </a:p>
              <a:p>
                <a:pPr lvl="0"/>
                <a14:m>
                  <m:oMath xmlns:m="http://schemas.openxmlformats.org/officeDocument/2006/math">
                    <m:r>
                      <m:t>F</m:t>
                    </m:r>
                  </m:oMath>
                </a14:m>
                <a:r>
                  <a:rPr/>
                  <a:t> Force applied to the cart</a:t>
                </a:r>
              </a:p>
              <a:p>
                <a:pPr lvl="0"/>
                <a14:m>
                  <m:oMath xmlns:m="http://schemas.openxmlformats.org/officeDocument/2006/math">
                    <m:r>
                      <m:t>x</m:t>
                    </m:r>
                  </m:oMath>
                </a14:m>
                <a:r>
                  <a:rPr/>
                  <a:t> Cart position coordinate</a:t>
                </a:r>
              </a:p>
              <a:p>
                <a:pPr lvl="0"/>
                <a14:m>
                  <m:oMath xmlns:m="http://schemas.openxmlformats.org/officeDocument/2006/math">
                    <m:r>
                      <m:t>θ</m:t>
                    </m:r>
                  </m:oMath>
                </a14:m>
                <a:r>
                  <a:rPr/>
                  <a:t> Pendulum angle from vertical (down)</a:t>
                </a:r>
              </a:p>
              <a:p>
                <a:pPr lvl="0" indent="0" marL="0">
                  <a:spcBef>
                    <a:spcPts val="3000"/>
                  </a:spcBef>
                  <a:buNone/>
                </a:pPr>
                <a:r>
                  <a:rPr b="1"/>
                  <a:t>Design Requirements</a:t>
                </a:r>
              </a:p>
              <a:p>
                <a:pPr lvl="0" indent="0" marL="0">
                  <a:buNone/>
                </a:pPr>
                <a:r>
                  <a:rPr/>
                  <a:t>We will design a controller to restore the pendulum to a vertically upward position after it has experienced an impulsive “bump” to the cart. Specifically, the design criteria are that the pendulum return to its upright position within 5 seconds and that the pendulum never move more than 0.05 radians away from vertical after being disturbed by an impulse of magnitude </a:t>
                </a:r>
                <a14:m>
                  <m:oMath xmlns:m="http://schemas.openxmlformats.org/officeDocument/2006/math">
                    <m:r>
                      <m:t>1</m:t>
                    </m:r>
                    <m:r>
                      <m:t> </m:t>
                    </m:r>
                    <m:r>
                      <m:rPr>
                        <m:nor/>
                        <m:sty m:val="p"/>
                      </m:rPr>
                      <m:t>Nsec</m:t>
                    </m:r>
                  </m:oMath>
                </a14:m>
                <a:r>
                  <a:rPr/>
                  <a:t>. The pendulum will initially begin in the vertically upward equilibrium, </a:t>
                </a:r>
                <a14:m>
                  <m:oMath xmlns:m="http://schemas.openxmlformats.org/officeDocument/2006/math">
                    <m:r>
                      <m:t>θ</m:t>
                    </m:r>
                    <m:r>
                      <m:rPr>
                        <m:sty m:val="p"/>
                      </m:rPr>
                      <m:t>=</m:t>
                    </m:r>
                    <m:r>
                      <m:t>π</m:t>
                    </m:r>
                  </m:oMath>
                </a14:m>
                <a:r>
                  <a:rPr/>
                  <a:t>.</a:t>
                </a:r>
              </a:p>
              <a:p>
                <a:pPr lvl="0" indent="0" marL="0">
                  <a:spcBef>
                    <a:spcPts val="3000"/>
                  </a:spcBef>
                  <a:buNone/>
                </a:pPr>
                <a:r>
                  <a:rPr b="1"/>
                  <a:t>SISO Design Requirements</a:t>
                </a:r>
              </a:p>
              <a:p>
                <a:pPr lvl="0"/>
                <a:r>
                  <a:rPr/>
                  <a:t>Settling time for </a:t>
                </a:r>
                <a14:m>
                  <m:oMath xmlns:m="http://schemas.openxmlformats.org/officeDocument/2006/math">
                    <m:r>
                      <m:t>θ</m:t>
                    </m:r>
                  </m:oMath>
                </a14:m>
                <a:r>
                  <a:rPr/>
                  <a:t> of less than 5 seconds</a:t>
                </a:r>
              </a:p>
              <a:p>
                <a:pPr lvl="0"/>
                <a:r>
                  <a:rPr/>
                  <a:t>Pendulum angle </a:t>
                </a:r>
                <a14:m>
                  <m:oMath xmlns:m="http://schemas.openxmlformats.org/officeDocument/2006/math">
                    <m:r>
                      <m:t>θ</m:t>
                    </m:r>
                  </m:oMath>
                </a14:m>
                <a:r>
                  <a:rPr/>
                  <a:t> never more than </a:t>
                </a:r>
                <a14:m>
                  <m:oMath xmlns:m="http://schemas.openxmlformats.org/officeDocument/2006/math">
                    <m:r>
                      <m:t>0.05</m:t>
                    </m:r>
                  </m:oMath>
                </a14:m>
                <a:r>
                  <a:rPr/>
                  <a:t> radians from the vertical</a:t>
                </a:r>
              </a:p>
              <a:p>
                <a:pPr lvl="0" indent="0" marL="0">
                  <a:buNone/>
                </a:pPr>
                <a:r>
                  <a:rPr/>
                  <a:t>In our case, the inverted pendulum system is single-input, multi-output (SIMO). Therefore, for the state-space section of the inverted pendulum, we will attempt to control both the pendulum’s angle and the cart’s position.</a:t>
                </a:r>
              </a:p>
              <a:p>
                <a:pPr lvl="0" indent="0" marL="0">
                  <a:buNone/>
                </a:pPr>
                <a:r>
                  <a:rPr/>
                  <a:t>For this example, We will command a 0.2-meter step in the cart’s desired position.</a:t>
                </a:r>
              </a:p>
              <a:p>
                <a:pPr lvl="0" indent="0" marL="0">
                  <a:spcBef>
                    <a:spcPts val="3000"/>
                  </a:spcBef>
                  <a:buNone/>
                </a:pPr>
                <a:r>
                  <a:rPr b="1"/>
                  <a:t>State-Space Design Requirements</a:t>
                </a:r>
              </a:p>
              <a:p>
                <a:pPr lvl="0"/>
                <a:r>
                  <a:rPr/>
                  <a:t>Settling time for </a:t>
                </a:r>
                <a14:m>
                  <m:oMath xmlns:m="http://schemas.openxmlformats.org/officeDocument/2006/math">
                    <m:r>
                      <m:t>x</m:t>
                    </m:r>
                  </m:oMath>
                </a14:m>
                <a:r>
                  <a:rPr/>
                  <a:t> and </a:t>
                </a:r>
                <a14:m>
                  <m:oMath xmlns:m="http://schemas.openxmlformats.org/officeDocument/2006/math">
                    <m:r>
                      <m:t>θ</m:t>
                    </m:r>
                  </m:oMath>
                </a14:m>
                <a:r>
                  <a:rPr/>
                  <a:t> of less than 5 seconds</a:t>
                </a:r>
              </a:p>
              <a:p>
                <a:pPr lvl="0"/>
                <a:r>
                  <a:rPr/>
                  <a:t>Rise time for </a:t>
                </a:r>
                <a14:m>
                  <m:oMath xmlns:m="http://schemas.openxmlformats.org/officeDocument/2006/math">
                    <m:r>
                      <m:t>x</m:t>
                    </m:r>
                  </m:oMath>
                </a14:m>
                <a:r>
                  <a:rPr/>
                  <a:t> of less than 0.5 seconds</a:t>
                </a:r>
              </a:p>
              <a:p>
                <a:pPr lvl="0"/>
                <a:r>
                  <a:rPr/>
                  <a:t>Pendulum angle </a:t>
                </a:r>
                <a14:m>
                  <m:oMath xmlns:m="http://schemas.openxmlformats.org/officeDocument/2006/math">
                    <m:r>
                      <m:t>θ</m:t>
                    </m:r>
                  </m:oMath>
                </a14:m>
                <a:r>
                  <a:rPr/>
                  <a:t> never more than </a:t>
                </a:r>
                <a14:m>
                  <m:oMath xmlns:m="http://schemas.openxmlformats.org/officeDocument/2006/math">
                    <m:sSup>
                      <m:e>
                        <m:r>
                          <m:t>20</m:t>
                        </m:r>
                      </m:e>
                      <m:sup>
                        <m:r>
                          <m:rPr>
                            <m:sty m:val="p"/>
                          </m:rPr>
                          <m:t>∘</m:t>
                        </m:r>
                      </m:sup>
                    </m:sSup>
                  </m:oMath>
                </a14:m>
                <a:r>
                  <a:rPr/>
                  <a:t> (</a:t>
                </a:r>
                <a14:m>
                  <m:oMath xmlns:m="http://schemas.openxmlformats.org/officeDocument/2006/math">
                    <m:r>
                      <m:t>0.35</m:t>
                    </m:r>
                  </m:oMath>
                </a14:m>
                <a:r>
                  <a:rPr/>
                  <a:t> radians) from the vertical</a:t>
                </a:r>
              </a:p>
              <a:p>
                <a:pPr lvl="0"/>
                <a:r>
                  <a:rPr/>
                  <a:t>Steady-state error of less than 2% for </a:t>
                </a:r>
                <a14:m>
                  <m:oMath xmlns:m="http://schemas.openxmlformats.org/officeDocument/2006/math">
                    <m:r>
                      <m:t>x</m:t>
                    </m:r>
                  </m:oMath>
                </a14:m>
                <a:r>
                  <a:rPr/>
                  <a:t> and </a:t>
                </a:r>
                <a14:m>
                  <m:oMath xmlns:m="http://schemas.openxmlformats.org/officeDocument/2006/math">
                    <m:r>
                      <m:t>θ</m:t>
                    </m:r>
                  </m:oMath>
                </a14:m>
              </a:p>
            </p:txBody>
          </p:sp>
        </mc:Choice>
      </mc:AlternateContent>
    </p:spTree>
  </p:cSld>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Force analysis and system equations</a:t>
            </a:r>
          </a:p>
        </p:txBody>
      </p:sp>
      <p:pic>
        <p:nvPicPr>
          <p:cNvPr descr="media/rId19.png" id="0" name="Picture 1"/>
          <p:cNvPicPr>
            <a:picLocks noGrp="1" noChangeAspect="1"/>
          </p:cNvPicPr>
          <p:nvPr/>
        </p:nvPicPr>
        <p:blipFill>
          <a:blip r:embed="rId2"/>
          <a:stretch>
            <a:fillRect/>
          </a:stretch>
        </p:blipFill>
        <p:spPr bwMode="auto">
          <a:xfrm>
            <a:off x="2730500" y="1193800"/>
            <a:ext cx="3683000" cy="3390900"/>
          </a:xfrm>
          <a:prstGeom prst="rect">
            <a:avLst/>
          </a:prstGeom>
          <a:noFill/>
          <a:ln w="9525">
            <a:noFill/>
            <a:headEnd/>
            <a:tailEnd/>
          </a:ln>
        </p:spPr>
      </p:pic>
      <p:sp>
        <p:nvSpPr>
          <p:cNvPr id="3" name="Content Placeholder 2"/>
          <p:cNvSpPr>
            <a:spLocks noGrp="1"/>
          </p:cNvSpPr>
          <p:nvPr>
            <p:ph idx="1"/>
          </p:nvPr>
        </p:nvSpPr>
        <p:spPr/>
        <p:txBody>
          <a:bodyPr/>
          <a:lstStyle/>
          <a:p>
            <a:pPr lvl="0" indent="0" marL="0">
              <a:spcBef>
                <a:spcPts val="3000"/>
              </a:spcBef>
              <a:buNone/>
            </a:pPr>
            <a:r>
              <a:rPr b="1"/>
              <a:t>Equations of Motion</a:t>
            </a:r>
          </a:p>
          <a:p>
            <a:pPr lvl="0" indent="0" marL="0">
              <a:spcBef>
                <a:spcPts val="3000"/>
              </a:spcBef>
              <a:buNone/>
            </a:pPr>
            <a:r>
              <a:rPr b="1"/>
              <a:t>Pendulum</a:t>
            </a:r>
          </a:p>
        </p:txBody>
      </p:sp>
      <p:pic>
        <p:nvPicPr>
          <p:cNvPr descr="media/rId23.png" id="0" name="Picture 1"/>
          <p:cNvPicPr>
            <a:picLocks noGrp="1" noChangeAspect="1"/>
          </p:cNvPicPr>
          <p:nvPr/>
        </p:nvPicPr>
        <p:blipFill>
          <a:blip r:embed="rId3"/>
          <a:stretch>
            <a:fillRect/>
          </a:stretch>
        </p:blipFill>
        <p:spPr bwMode="auto">
          <a:xfrm>
            <a:off x="2743200" y="1193800"/>
            <a:ext cx="3670300" cy="3390900"/>
          </a:xfrm>
          <a:prstGeom prst="rect">
            <a:avLst/>
          </a:prstGeom>
          <a:noFill/>
          <a:ln w="9525">
            <a:noFill/>
            <a:headEnd/>
            <a:tailEnd/>
          </a:ln>
        </p:spPr>
      </p:pic>
      <mc:AlternateContent xmlns:mc="http://schemas.openxmlformats.org/markup-compatibility/2006">
        <mc:Choice xmlns:a14="http://schemas.microsoft.com/office/drawing/2010/main" Requires="a14">
          <p:sp>
            <p:nvSpPr>
              <p:cNvPr id="3" name="Content Placeholder 2"/>
              <p:cNvSpPr>
                <a:spLocks noGrp="1"/>
              </p:cNvSpPr>
              <p:nvPr>
                <p:ph idx="1"/>
              </p:nvPr>
            </p:nvSpPr>
            <p:spPr/>
            <p:txBody>
              <a:bodyPr/>
              <a:lstStyle/>
              <a:p>
                <a:pPr lvl="0" indent="0" marL="0">
                  <a:buNone/>
                </a:pPr>
                <a:r>
                  <a:rPr/>
                  <a:t>The coordinates of the center of mass are given by:</a:t>
                </a:r>
              </a:p>
              <a:p>
                <a:pPr lvl="0" indent="0" marL="0">
                  <a:buNone/>
                </a:pPr>
                <a14:m>
                  <m:oMathPara xmlns:m="http://schemas.openxmlformats.org/officeDocument/2006/math">
                    <m:oMathParaPr>
                      <m:jc m:val="center"/>
                    </m:oMathParaPr>
                    <m:oMath>
                      <m:r>
                        <m:rPr>
                          <m:sty m:val="p"/>
                        </m:rPr>
                        <m:t>(</m:t>
                      </m:r>
                      <m:sSub>
                        <m:e>
                          <m:r>
                            <m:t>x</m:t>
                          </m:r>
                        </m:e>
                        <m:sub>
                          <m:r>
                            <m:t>c</m:t>
                          </m:r>
                        </m:sub>
                      </m:sSub>
                      <m:r>
                        <m:rPr>
                          <m:sty m:val="p"/>
                        </m:rPr>
                        <m:t>,</m:t>
                      </m:r>
                      <m:sSub>
                        <m:e>
                          <m:r>
                            <m:t>y</m:t>
                          </m:r>
                        </m:e>
                        <m:sub>
                          <m:r>
                            <m:t>c</m:t>
                          </m:r>
                        </m:sub>
                      </m:sSub>
                      <m:r>
                        <m:rPr>
                          <m:sty m:val="p"/>
                        </m:rPr>
                        <m:t>)</m:t>
                      </m:r>
                      <m:r>
                        <m:rPr>
                          <m:sty m:val="p"/>
                        </m:rPr>
                        <m:t>≡</m:t>
                      </m:r>
                      <m:d>
                        <m:dPr>
                          <m:begChr m:val="("/>
                          <m:sepChr m:val=""/>
                          <m:endChr m:val=")"/>
                          <m:grow/>
                        </m:dPr>
                        <m:e>
                          <m:r>
                            <m:t>x</m:t>
                          </m:r>
                          <m:r>
                            <m:rPr>
                              <m:sty m:val="p"/>
                            </m:rPr>
                            <m:t>+</m:t>
                          </m:r>
                          <m:r>
                            <m:t>l</m:t>
                          </m:r>
                          <m:r>
                            <m:rPr>
                              <m:sty m:val="p"/>
                            </m:rPr>
                            <m:t>sin</m:t>
                          </m:r>
                          <m:r>
                            <m:t>θ</m:t>
                          </m:r>
                          <m:r>
                            <m:rPr>
                              <m:sty m:val="p"/>
                            </m:rPr>
                            <m:t>,</m:t>
                          </m:r>
                          <m:r>
                            <m:t> </m:t>
                          </m:r>
                          <m:r>
                            <m:rPr>
                              <m:sty m:val="p"/>
                            </m:rPr>
                            <m:t>−</m:t>
                          </m:r>
                          <m:r>
                            <m:t>l</m:t>
                          </m:r>
                          <m:r>
                            <m:rPr>
                              <m:sty m:val="p"/>
                            </m:rPr>
                            <m:t>cos</m:t>
                          </m:r>
                          <m:r>
                            <m:t>θ</m:t>
                          </m:r>
                        </m:e>
                      </m:d>
                    </m:oMath>
                  </m:oMathPara>
                </a14:m>
              </a:p>
              <a:p>
                <a:pPr lvl="0" indent="0" marL="0">
                  <a:buNone/>
                </a:pPr>
                <a:r>
                  <a:rPr/>
                  <a:t>Velocities:</a:t>
                </a:r>
              </a:p>
              <a:p>
                <a:pPr lvl="0" indent="0" marL="0">
                  <a:buNone/>
                </a:pPr>
                <a14:m>
                  <m:oMathPara xmlns:m="http://schemas.openxmlformats.org/officeDocument/2006/math">
                    <m:oMathParaPr>
                      <m:jc m:val="center"/>
                    </m:oMathParaPr>
                    <m:oMath>
                      <m:r>
                        <m:rPr>
                          <m:sty m:val="p"/>
                        </m:rPr>
                        <m:t>(</m:t>
                      </m:r>
                      <m:sSub>
                        <m:e>
                          <m:r>
                            <m:t>v</m:t>
                          </m:r>
                        </m:e>
                        <m:sub>
                          <m:r>
                            <m:t>x</m:t>
                          </m:r>
                        </m:sub>
                      </m:sSub>
                      <m:r>
                        <m:rPr>
                          <m:sty m:val="p"/>
                        </m:rPr>
                        <m:t>,</m:t>
                      </m:r>
                      <m:sSub>
                        <m:e>
                          <m:r>
                            <m:t>v</m:t>
                          </m:r>
                        </m:e>
                        <m:sub>
                          <m:r>
                            <m:t>y</m:t>
                          </m:r>
                        </m:sub>
                      </m:sSub>
                      <m:r>
                        <m:rPr>
                          <m:sty m:val="p"/>
                        </m:rPr>
                        <m:t>)</m:t>
                      </m:r>
                      <m:r>
                        <m:rPr>
                          <m:sty m:val="p"/>
                        </m:rPr>
                        <m:t>≡</m:t>
                      </m:r>
                      <m:d>
                        <m:dPr>
                          <m:begChr m:val="("/>
                          <m:sepChr m:val=""/>
                          <m:endChr m:val=")"/>
                          <m:grow/>
                        </m:dPr>
                        <m:e>
                          <m:acc>
                            <m:accPr>
                              <m:chr m:val="̇"/>
                            </m:accPr>
                            <m:e>
                              <m:r>
                                <m:t>x</m:t>
                              </m:r>
                            </m:e>
                          </m:acc>
                          <m:r>
                            <m:rPr>
                              <m:sty m:val="p"/>
                            </m:rPr>
                            <m:t>+</m:t>
                          </m:r>
                          <m:r>
                            <m:t>l</m:t>
                          </m:r>
                          <m:r>
                            <m:rPr>
                              <m:sty m:val="p"/>
                            </m:rPr>
                            <m:t>cos</m:t>
                          </m:r>
                          <m:r>
                            <m:t>θ</m:t>
                          </m:r>
                          <m:r>
                            <m:t> </m:t>
                          </m:r>
                          <m:acc>
                            <m:accPr>
                              <m:chr m:val="̇"/>
                            </m:accPr>
                            <m:e>
                              <m:r>
                                <m:t>θ</m:t>
                              </m:r>
                            </m:e>
                          </m:acc>
                          <m:r>
                            <m:rPr>
                              <m:sty m:val="p"/>
                            </m:rPr>
                            <m:t>,</m:t>
                          </m:r>
                          <m:r>
                            <m:t> </m:t>
                          </m:r>
                          <m:r>
                            <m:t>l</m:t>
                          </m:r>
                          <m:r>
                            <m:rPr>
                              <m:sty m:val="p"/>
                            </m:rPr>
                            <m:t>sin</m:t>
                          </m:r>
                          <m:r>
                            <m:t>θ</m:t>
                          </m:r>
                          <m:r>
                            <m:t> </m:t>
                          </m:r>
                          <m:acc>
                            <m:accPr>
                              <m:chr m:val="̇"/>
                            </m:accPr>
                            <m:e>
                              <m:r>
                                <m:t>θ</m:t>
                              </m:r>
                            </m:e>
                          </m:acc>
                        </m:e>
                      </m:d>
                    </m:oMath>
                  </m:oMathPara>
                </a14:m>
              </a:p>
              <a:p>
                <a:pPr lvl="0" indent="0" marL="0">
                  <a:buNone/>
                </a:pPr>
                <a:r>
                  <a:rPr/>
                  <a:t>Accelerations:</a:t>
                </a:r>
              </a:p>
              <a:p>
                <a:pPr lvl="0" indent="0" marL="0">
                  <a:buNone/>
                </a:pPr>
                <a14:m>
                  <m:oMathPara xmlns:m="http://schemas.openxmlformats.org/officeDocument/2006/math">
                    <m:oMathParaPr>
                      <m:jc m:val="center"/>
                    </m:oMathParaPr>
                    <m:oMath>
                      <m:r>
                        <m:rPr>
                          <m:sty m:val="p"/>
                        </m:rPr>
                        <m:t>(</m:t>
                      </m:r>
                      <m:sSub>
                        <m:e>
                          <m:r>
                            <m:t>a</m:t>
                          </m:r>
                        </m:e>
                        <m:sub>
                          <m:r>
                            <m:t>x</m:t>
                          </m:r>
                        </m:sub>
                      </m:sSub>
                      <m:r>
                        <m:rPr>
                          <m:sty m:val="p"/>
                        </m:rPr>
                        <m:t>,</m:t>
                      </m:r>
                      <m:sSub>
                        <m:e>
                          <m:r>
                            <m:t>a</m:t>
                          </m:r>
                        </m:e>
                        <m:sub>
                          <m:r>
                            <m:t>y</m:t>
                          </m:r>
                        </m:sub>
                      </m:sSub>
                      <m:r>
                        <m:rPr>
                          <m:sty m:val="p"/>
                        </m:rPr>
                        <m:t>)</m:t>
                      </m:r>
                      <m:r>
                        <m:rPr>
                          <m:sty m:val="p"/>
                        </m:rPr>
                        <m:t>=</m:t>
                      </m:r>
                      <m:d>
                        <m:dPr>
                          <m:begChr m:val="("/>
                          <m:sepChr m:val=""/>
                          <m:endChr m:val=")"/>
                          <m:grow/>
                        </m:dPr>
                        <m:e>
                          <m:acc>
                            <m:accPr>
                              <m:chr m:val="̈"/>
                            </m:accPr>
                            <m:e>
                              <m:r>
                                <m:t>x</m:t>
                              </m:r>
                            </m:e>
                          </m:acc>
                          <m:r>
                            <m:rPr>
                              <m:sty m:val="p"/>
                            </m:rPr>
                            <m:t>−</m:t>
                          </m:r>
                          <m:r>
                            <m:t>l</m:t>
                          </m:r>
                          <m:r>
                            <m:rPr>
                              <m:sty m:val="p"/>
                            </m:rPr>
                            <m:t>sin</m:t>
                          </m:r>
                          <m:r>
                            <m:t>θ</m:t>
                          </m:r>
                          <m:r>
                            <m:t> </m:t>
                          </m:r>
                          <m:sSup>
                            <m:e>
                              <m:acc>
                                <m:accPr>
                                  <m:chr m:val="̇"/>
                                </m:accPr>
                                <m:e>
                                  <m:r>
                                    <m:t>θ</m:t>
                                  </m:r>
                                </m:e>
                              </m:acc>
                            </m:e>
                            <m:sup>
                              <m:r>
                                <m:t>2</m:t>
                              </m:r>
                            </m:sup>
                          </m:sSup>
                          <m:r>
                            <m:rPr>
                              <m:sty m:val="p"/>
                            </m:rPr>
                            <m:t>+</m:t>
                          </m:r>
                          <m:r>
                            <m:t>l</m:t>
                          </m:r>
                          <m:r>
                            <m:rPr>
                              <m:sty m:val="p"/>
                            </m:rPr>
                            <m:t>cos</m:t>
                          </m:r>
                          <m:r>
                            <m:t>θ</m:t>
                          </m:r>
                          <m:r>
                            <m:t> </m:t>
                          </m:r>
                          <m:acc>
                            <m:accPr>
                              <m:chr m:val="̈"/>
                            </m:accPr>
                            <m:e>
                              <m:r>
                                <m:t>θ</m:t>
                              </m:r>
                            </m:e>
                          </m:acc>
                          <m:r>
                            <m:rPr>
                              <m:sty m:val="p"/>
                            </m:rPr>
                            <m:t>,</m:t>
                          </m:r>
                          <m:r>
                            <m:t> </m:t>
                          </m:r>
                          <m:r>
                            <m:t>l</m:t>
                          </m:r>
                          <m:r>
                            <m:rPr>
                              <m:sty m:val="p"/>
                            </m:rPr>
                            <m:t>cos</m:t>
                          </m:r>
                          <m:r>
                            <m:t>θ</m:t>
                          </m:r>
                          <m:r>
                            <m:t> </m:t>
                          </m:r>
                          <m:sSup>
                            <m:e>
                              <m:acc>
                                <m:accPr>
                                  <m:chr m:val="̇"/>
                                </m:accPr>
                                <m:e>
                                  <m:r>
                                    <m:t>θ</m:t>
                                  </m:r>
                                </m:e>
                              </m:acc>
                            </m:e>
                            <m:sup>
                              <m:r>
                                <m:t>2</m:t>
                              </m:r>
                            </m:sup>
                          </m:sSup>
                          <m:r>
                            <m:rPr>
                              <m:sty m:val="p"/>
                            </m:rPr>
                            <m:t>+</m:t>
                          </m:r>
                          <m:r>
                            <m:t>l</m:t>
                          </m:r>
                          <m:r>
                            <m:rPr>
                              <m:sty m:val="p"/>
                            </m:rPr>
                            <m:t>sin</m:t>
                          </m:r>
                          <m:r>
                            <m:t>θ</m:t>
                          </m:r>
                          <m:r>
                            <m:t> </m:t>
                          </m:r>
                          <m:acc>
                            <m:accPr>
                              <m:chr m:val="̈"/>
                            </m:accPr>
                            <m:e>
                              <m:r>
                                <m:t>θ</m:t>
                              </m:r>
                            </m:e>
                          </m:acc>
                        </m:e>
                      </m:d>
                    </m:oMath>
                  </m:oMathPara>
                </a14:m>
              </a:p>
              <a:p>
                <a:pPr lvl="0" indent="0" marL="0">
                  <a:buNone/>
                </a:pPr>
                <a:r>
                  <a:rPr/>
                  <a:t>Force equations for the pendulum:</a:t>
                </a:r>
              </a:p>
              <a:p>
                <a:pPr lvl="0" indent="0" marL="0">
                  <a:buNone/>
                </a:pPr>
                <a14:m>
                  <m:oMathPara xmlns:m="http://schemas.openxmlformats.org/officeDocument/2006/math">
                    <m:oMathParaPr>
                      <m:jc m:val="center"/>
                    </m:oMathParaPr>
                    <m:oMath>
                      <m:eqArr>
                        <m:e>
                          <m:r>
                            <m:t>N</m:t>
                          </m:r>
                          <m:r>
                            <m:t>&amp;</m:t>
                          </m:r>
                          <m:r>
                            <m:rPr>
                              <m:sty m:val="p"/>
                            </m:rPr>
                            <m:t>=</m:t>
                          </m:r>
                          <m:r>
                            <m:t>m</m:t>
                          </m:r>
                          <m:acc>
                            <m:accPr>
                              <m:chr m:val="̈"/>
                            </m:accPr>
                            <m:e>
                              <m:r>
                                <m:t>x</m:t>
                              </m:r>
                            </m:e>
                          </m:acc>
                        </m:e>
                        <m:e>
                          <m:r>
                            <m:t>P</m:t>
                          </m:r>
                          <m:r>
                            <m:rPr>
                              <m:sty m:val="p"/>
                            </m:rPr>
                            <m:t>−</m:t>
                          </m:r>
                          <m:r>
                            <m:t>m</m:t>
                          </m:r>
                          <m:r>
                            <m:t>g</m:t>
                          </m:r>
                          <m:r>
                            <m:t>&amp;</m:t>
                          </m:r>
                          <m:r>
                            <m:rPr>
                              <m:sty m:val="p"/>
                            </m:rPr>
                            <m:t>=</m:t>
                          </m:r>
                          <m:r>
                            <m:t>m</m:t>
                          </m:r>
                          <m:acc>
                            <m:accPr>
                              <m:chr m:val="̈"/>
                            </m:accPr>
                            <m:e>
                              <m:r>
                                <m:t>y</m:t>
                              </m:r>
                            </m:e>
                          </m:acc>
                        </m:e>
                      </m:eqArr>
                    </m:oMath>
                  </m:oMathPara>
                </a14:m>
              </a:p>
              <a:p>
                <a:pPr lvl="0" indent="0" marL="0">
                  <a:buNone/>
                </a:pPr>
                <a:r>
                  <a:rPr/>
                  <a:t>Substituting accelerations:</a:t>
                </a:r>
              </a:p>
              <a:p>
                <a:pPr lvl="0" indent="0" marL="0">
                  <a:buNone/>
                </a:pPr>
                <a14:m>
                  <m:oMathPara xmlns:m="http://schemas.openxmlformats.org/officeDocument/2006/math">
                    <m:oMathParaPr>
                      <m:jc m:val="center"/>
                    </m:oMathParaPr>
                    <m:oMath>
                      <m:eqArr>
                        <m:e>
                          <m:r>
                            <m:t>N</m:t>
                          </m:r>
                          <m:r>
                            <m:t>&amp;</m:t>
                          </m:r>
                          <m:r>
                            <m:rPr>
                              <m:sty m:val="p"/>
                            </m:rPr>
                            <m:t>=</m:t>
                          </m:r>
                          <m:r>
                            <m:t>m</m:t>
                          </m:r>
                          <m:d>
                            <m:dPr>
                              <m:begChr m:val="("/>
                              <m:sepChr m:val=""/>
                              <m:endChr m:val=")"/>
                              <m:grow/>
                            </m:dPr>
                            <m:e>
                              <m:acc>
                                <m:accPr>
                                  <m:chr m:val="̈"/>
                                </m:accPr>
                                <m:e>
                                  <m:r>
                                    <m:t>x</m:t>
                                  </m:r>
                                </m:e>
                              </m:acc>
                              <m:r>
                                <m:rPr>
                                  <m:sty m:val="p"/>
                                </m:rPr>
                                <m:t>−</m:t>
                              </m:r>
                              <m:r>
                                <m:t>l</m:t>
                              </m:r>
                              <m:r>
                                <m:rPr>
                                  <m:sty m:val="p"/>
                                </m:rPr>
                                <m:t>sin</m:t>
                              </m:r>
                              <m:r>
                                <m:t>θ</m:t>
                              </m:r>
                              <m:r>
                                <m:t> </m:t>
                              </m:r>
                              <m:sSup>
                                <m:e>
                                  <m:acc>
                                    <m:accPr>
                                      <m:chr m:val="̇"/>
                                    </m:accPr>
                                    <m:e>
                                      <m:r>
                                        <m:t>θ</m:t>
                                      </m:r>
                                    </m:e>
                                  </m:acc>
                                </m:e>
                                <m:sup>
                                  <m:r>
                                    <m:t>2</m:t>
                                  </m:r>
                                </m:sup>
                              </m:sSup>
                              <m:r>
                                <m:rPr>
                                  <m:sty m:val="p"/>
                                </m:rPr>
                                <m:t>+</m:t>
                              </m:r>
                              <m:r>
                                <m:t>l</m:t>
                              </m:r>
                              <m:r>
                                <m:rPr>
                                  <m:sty m:val="p"/>
                                </m:rPr>
                                <m:t>cos</m:t>
                              </m:r>
                              <m:r>
                                <m:t>θ</m:t>
                              </m:r>
                              <m:r>
                                <m:t> </m:t>
                              </m:r>
                              <m:acc>
                                <m:accPr>
                                  <m:chr m:val="̈"/>
                                </m:accPr>
                                <m:e>
                                  <m:r>
                                    <m:t>θ</m:t>
                                  </m:r>
                                </m:e>
                              </m:acc>
                            </m:e>
                          </m:d>
                        </m:e>
                        <m:e>
                          <m:r>
                            <m:t>P</m:t>
                          </m:r>
                          <m:r>
                            <m:rPr>
                              <m:sty m:val="p"/>
                            </m:rPr>
                            <m:t>−</m:t>
                          </m:r>
                          <m:r>
                            <m:t>m</m:t>
                          </m:r>
                          <m:r>
                            <m:t>g</m:t>
                          </m:r>
                          <m:r>
                            <m:t>&amp;</m:t>
                          </m:r>
                          <m:r>
                            <m:rPr>
                              <m:sty m:val="p"/>
                            </m:rPr>
                            <m:t>=</m:t>
                          </m:r>
                          <m:r>
                            <m:t>m</m:t>
                          </m:r>
                          <m:d>
                            <m:dPr>
                              <m:begChr m:val="("/>
                              <m:sepChr m:val=""/>
                              <m:endChr m:val=")"/>
                              <m:grow/>
                            </m:dPr>
                            <m:e>
                              <m:r>
                                <m:t>l</m:t>
                              </m:r>
                              <m:r>
                                <m:rPr>
                                  <m:sty m:val="p"/>
                                </m:rPr>
                                <m:t>cos</m:t>
                              </m:r>
                              <m:r>
                                <m:t>θ</m:t>
                              </m:r>
                              <m:r>
                                <m:t> </m:t>
                              </m:r>
                              <m:sSup>
                                <m:e>
                                  <m:acc>
                                    <m:accPr>
                                      <m:chr m:val="̇"/>
                                    </m:accPr>
                                    <m:e>
                                      <m:r>
                                        <m:t>θ</m:t>
                                      </m:r>
                                    </m:e>
                                  </m:acc>
                                </m:e>
                                <m:sup>
                                  <m:r>
                                    <m:t>2</m:t>
                                  </m:r>
                                </m:sup>
                              </m:sSup>
                              <m:r>
                                <m:rPr>
                                  <m:sty m:val="p"/>
                                </m:rPr>
                                <m:t>+</m:t>
                              </m:r>
                              <m:r>
                                <m:t>l</m:t>
                              </m:r>
                              <m:r>
                                <m:rPr>
                                  <m:sty m:val="p"/>
                                </m:rPr>
                                <m:t>sin</m:t>
                              </m:r>
                              <m:r>
                                <m:t>θ</m:t>
                              </m:r>
                              <m:r>
                                <m:t> </m:t>
                              </m:r>
                              <m:acc>
                                <m:accPr>
                                  <m:chr m:val="̈"/>
                                </m:accPr>
                                <m:e>
                                  <m:r>
                                    <m:t>θ</m:t>
                                  </m:r>
                                </m:e>
                              </m:acc>
                            </m:e>
                          </m:d>
                        </m:e>
                      </m:eqArr>
                    </m:oMath>
                  </m:oMathPara>
                </a14:m>
              </a:p>
              <a:p>
                <a:pPr lvl="0" indent="0" marL="0">
                  <a:spcBef>
                    <a:spcPts val="3000"/>
                  </a:spcBef>
                  <a:buNone/>
                </a:pPr>
                <a:r>
                  <a:rPr b="1"/>
                  <a:t>Cart</a:t>
                </a:r>
              </a:p>
            </p:txBody>
          </p:sp>
        </mc:Choice>
      </mc:AlternateContent>
      <p:pic>
        <p:nvPicPr>
          <p:cNvPr descr="media/rId28.png" id="0" name="Picture 1"/>
          <p:cNvPicPr>
            <a:picLocks noGrp="1" noChangeAspect="1"/>
          </p:cNvPicPr>
          <p:nvPr/>
        </p:nvPicPr>
        <p:blipFill>
          <a:blip r:embed="rId4"/>
          <a:stretch>
            <a:fillRect/>
          </a:stretch>
        </p:blipFill>
        <p:spPr bwMode="auto">
          <a:xfrm>
            <a:off x="2044700" y="1193800"/>
            <a:ext cx="5054600" cy="3390900"/>
          </a:xfrm>
          <a:prstGeom prst="rect">
            <a:avLst/>
          </a:prstGeom>
          <a:noFill/>
          <a:ln w="9525">
            <a:noFill/>
            <a:headEnd/>
            <a:tailEnd/>
          </a:ln>
        </p:spPr>
      </p:pic>
      <mc:AlternateContent xmlns:mc="http://schemas.openxmlformats.org/markup-compatibility/2006">
        <mc:Choice xmlns:a14="http://schemas.microsoft.com/office/drawing/2010/main" Requires="a14">
          <p:sp>
            <p:nvSpPr>
              <p:cNvPr id="3" name="Content Placeholder 2"/>
              <p:cNvSpPr>
                <a:spLocks noGrp="1"/>
              </p:cNvSpPr>
              <p:nvPr>
                <p:ph idx="1"/>
              </p:nvPr>
            </p:nvSpPr>
            <p:spPr/>
            <p:txBody>
              <a:bodyPr/>
              <a:lstStyle/>
              <a:p>
                <a:pPr lvl="0" indent="0" marL="0">
                  <a:buNone/>
                </a:pPr>
                <a:r>
                  <a:rPr/>
                  <a:t>Force balance on the cart:</a:t>
                </a:r>
              </a:p>
              <a:p>
                <a:pPr lvl="0" indent="0" marL="0">
                  <a:buNone/>
                </a:pPr>
                <a14:m>
                  <m:oMathPara xmlns:m="http://schemas.openxmlformats.org/officeDocument/2006/math">
                    <m:oMathParaPr>
                      <m:jc m:val="center"/>
                    </m:oMathParaPr>
                    <m:oMath>
                      <m:r>
                        <m:t>F</m:t>
                      </m:r>
                      <m:r>
                        <m:rPr>
                          <m:sty m:val="p"/>
                        </m:rPr>
                        <m:t>−</m:t>
                      </m:r>
                      <m:r>
                        <m:t>N</m:t>
                      </m:r>
                      <m:r>
                        <m:rPr>
                          <m:sty m:val="p"/>
                        </m:rPr>
                        <m:t>−</m:t>
                      </m:r>
                      <m:r>
                        <m:t>b</m:t>
                      </m:r>
                      <m:acc>
                        <m:accPr>
                          <m:chr m:val="̈"/>
                        </m:accPr>
                        <m:e>
                          <m:r>
                            <m:t>x</m:t>
                          </m:r>
                        </m:e>
                      </m:acc>
                      <m:r>
                        <m:rPr>
                          <m:sty m:val="p"/>
                        </m:rPr>
                        <m:t>=</m:t>
                      </m:r>
                      <m:r>
                        <m:t>M</m:t>
                      </m:r>
                      <m:acc>
                        <m:accPr>
                          <m:chr m:val="̈"/>
                        </m:accPr>
                        <m:e>
                          <m:r>
                            <m:t>x</m:t>
                          </m:r>
                        </m:e>
                      </m:acc>
                    </m:oMath>
                  </m:oMathPara>
                </a14:m>
              </a:p>
              <a:p>
                <a:pPr lvl="0" indent="0" marL="0">
                  <a:buNone/>
                </a:pPr>
                <a:r>
                  <a:rPr/>
                  <a:t>Substituting </a:t>
                </a:r>
                <a14:m>
                  <m:oMath xmlns:m="http://schemas.openxmlformats.org/officeDocument/2006/math">
                    <m:r>
                      <m:t>N</m:t>
                    </m:r>
                  </m:oMath>
                </a14:m>
                <a:r>
                  <a:rPr/>
                  <a:t>:</a:t>
                </a:r>
              </a:p>
              <a:p>
                <a:pPr lvl="0" indent="0" marL="0">
                  <a:buNone/>
                </a:pPr>
                <a14:m>
                  <m:oMathPara xmlns:m="http://schemas.openxmlformats.org/officeDocument/2006/math">
                    <m:oMathParaPr>
                      <m:jc m:val="center"/>
                    </m:oMathParaPr>
                    <m:oMath>
                      <m:r>
                        <m:t>M</m:t>
                      </m:r>
                      <m:acc>
                        <m:accPr>
                          <m:chr m:val="̈"/>
                        </m:accPr>
                        <m:e>
                          <m:r>
                            <m:t>x</m:t>
                          </m:r>
                        </m:e>
                      </m:acc>
                      <m:r>
                        <m:rPr>
                          <m:sty m:val="p"/>
                        </m:rPr>
                        <m:t>=</m:t>
                      </m:r>
                      <m:r>
                        <m:t>F</m:t>
                      </m:r>
                      <m:r>
                        <m:rPr>
                          <m:sty m:val="p"/>
                        </m:rPr>
                        <m:t>−</m:t>
                      </m:r>
                      <m:r>
                        <m:t>b</m:t>
                      </m:r>
                      <m:acc>
                        <m:accPr>
                          <m:chr m:val="̈"/>
                        </m:accPr>
                        <m:e>
                          <m:r>
                            <m:t>x</m:t>
                          </m:r>
                        </m:e>
                      </m:acc>
                      <m:r>
                        <m:rPr>
                          <m:sty m:val="p"/>
                        </m:rPr>
                        <m:t>−</m:t>
                      </m:r>
                      <m:r>
                        <m:t>m</m:t>
                      </m:r>
                      <m:d>
                        <m:dPr>
                          <m:begChr m:val="("/>
                          <m:sepChr m:val=""/>
                          <m:endChr m:val=")"/>
                          <m:grow/>
                        </m:dPr>
                        <m:e>
                          <m:acc>
                            <m:accPr>
                              <m:chr m:val="̈"/>
                            </m:accPr>
                            <m:e>
                              <m:r>
                                <m:t>x</m:t>
                              </m:r>
                            </m:e>
                          </m:acc>
                          <m:r>
                            <m:rPr>
                              <m:sty m:val="p"/>
                            </m:rPr>
                            <m:t>−</m:t>
                          </m:r>
                          <m:r>
                            <m:t>l</m:t>
                          </m:r>
                          <m:r>
                            <m:rPr>
                              <m:sty m:val="p"/>
                            </m:rPr>
                            <m:t>sin</m:t>
                          </m:r>
                          <m:acc>
                            <m:accPr>
                              <m:chr m:val="̇"/>
                            </m:accPr>
                            <m:e>
                              <m:r>
                                <m:t>θ</m:t>
                              </m:r>
                            </m:e>
                          </m:acc>
                          <m:r>
                            <m:t> </m:t>
                          </m:r>
                          <m:sSup>
                            <m:e>
                              <m:acc>
                                <m:accPr>
                                  <m:chr m:val="̇"/>
                                </m:accPr>
                                <m:e>
                                  <m:r>
                                    <m:t>θ</m:t>
                                  </m:r>
                                </m:e>
                              </m:acc>
                            </m:e>
                            <m:sup>
                              <m:r>
                                <m:t>2</m:t>
                              </m:r>
                            </m:sup>
                          </m:sSup>
                          <m:r>
                            <m:rPr>
                              <m:sty m:val="p"/>
                            </m:rPr>
                            <m:t>+</m:t>
                          </m:r>
                          <m:r>
                            <m:t>l</m:t>
                          </m:r>
                          <m:r>
                            <m:rPr>
                              <m:sty m:val="p"/>
                            </m:rPr>
                            <m:t>cos</m:t>
                          </m:r>
                          <m:r>
                            <m:t>θ</m:t>
                          </m:r>
                          <m:r>
                            <m:t> </m:t>
                          </m:r>
                          <m:acc>
                            <m:accPr>
                              <m:chr m:val="̈"/>
                            </m:accPr>
                            <m:e>
                              <m:r>
                                <m:t>θ</m:t>
                              </m:r>
                            </m:e>
                          </m:acc>
                        </m:e>
                      </m:d>
                    </m:oMath>
                  </m:oMathPara>
                </a14:m>
              </a:p>
              <a:p>
                <a:pPr lvl="0" indent="0" marL="0">
                  <a:buNone/>
                </a:pPr>
                <a:r>
                  <a:rPr/>
                  <a:t>Rearranging:</a:t>
                </a:r>
              </a:p>
              <a:p>
                <a:pPr lvl="0" indent="0" marL="0">
                  <a:buNone/>
                </a:pPr>
                <a14:m>
                  <m:oMathPara xmlns:m="http://schemas.openxmlformats.org/officeDocument/2006/math">
                    <m:oMathParaPr>
                      <m:jc m:val="center"/>
                    </m:oMathParaPr>
                    <m:oMath>
                      <m:r>
                        <m:rPr>
                          <m:sty m:val="p"/>
                        </m:rPr>
                        <m:t>(</m:t>
                      </m:r>
                      <m:r>
                        <m:t>M</m:t>
                      </m:r>
                      <m:r>
                        <m:rPr>
                          <m:sty m:val="p"/>
                        </m:rPr>
                        <m:t>+</m:t>
                      </m:r>
                      <m:r>
                        <m:t>m</m:t>
                      </m:r>
                      <m:r>
                        <m:rPr>
                          <m:sty m:val="p"/>
                        </m:rPr>
                        <m:t>)</m:t>
                      </m:r>
                      <m:acc>
                        <m:accPr>
                          <m:chr m:val="̈"/>
                        </m:accPr>
                        <m:e>
                          <m:r>
                            <m:t>x</m:t>
                          </m:r>
                        </m:e>
                      </m:acc>
                      <m:r>
                        <m:rPr>
                          <m:sty m:val="p"/>
                        </m:rPr>
                        <m:t>+</m:t>
                      </m:r>
                      <m:r>
                        <m:t>b</m:t>
                      </m:r>
                      <m:acc>
                        <m:accPr>
                          <m:chr m:val="̈"/>
                        </m:accPr>
                        <m:e>
                          <m:r>
                            <m:t>x</m:t>
                          </m:r>
                        </m:e>
                      </m:acc>
                      <m:r>
                        <m:rPr>
                          <m:sty m:val="p"/>
                        </m:rPr>
                        <m:t>=</m:t>
                      </m:r>
                      <m:r>
                        <m:t>F</m:t>
                      </m:r>
                      <m:r>
                        <m:rPr>
                          <m:sty m:val="p"/>
                        </m:rPr>
                        <m:t>+</m:t>
                      </m:r>
                      <m:r>
                        <m:t>m</m:t>
                      </m:r>
                      <m:d>
                        <m:dPr>
                          <m:begChr m:val="("/>
                          <m:sepChr m:val=""/>
                          <m:endChr m:val=")"/>
                          <m:grow/>
                        </m:dPr>
                        <m:e>
                          <m:r>
                            <m:t>l</m:t>
                          </m:r>
                          <m:r>
                            <m:rPr>
                              <m:sty m:val="p"/>
                            </m:rPr>
                            <m:t>sin</m:t>
                          </m:r>
                          <m:r>
                            <m:t>θ</m:t>
                          </m:r>
                          <m:r>
                            <m:t> </m:t>
                          </m:r>
                          <m:sSup>
                            <m:e>
                              <m:acc>
                                <m:accPr>
                                  <m:chr m:val="̇"/>
                                </m:accPr>
                                <m:e>
                                  <m:r>
                                    <m:t>θ</m:t>
                                  </m:r>
                                </m:e>
                              </m:acc>
                            </m:e>
                            <m:sup>
                              <m:r>
                                <m:t>2</m:t>
                              </m:r>
                            </m:sup>
                          </m:sSup>
                          <m:r>
                            <m:rPr>
                              <m:sty m:val="p"/>
                            </m:rPr>
                            <m:t>−</m:t>
                          </m:r>
                          <m:r>
                            <m:t>l</m:t>
                          </m:r>
                          <m:r>
                            <m:rPr>
                              <m:sty m:val="p"/>
                            </m:rPr>
                            <m:t>cos</m:t>
                          </m:r>
                          <m:r>
                            <m:t>θ</m:t>
                          </m:r>
                          <m:r>
                            <m:t> </m:t>
                          </m:r>
                          <m:acc>
                            <m:accPr>
                              <m:chr m:val="̈"/>
                            </m:accPr>
                            <m:e>
                              <m:r>
                                <m:t>θ</m:t>
                              </m:r>
                            </m:e>
                          </m:acc>
                        </m:e>
                      </m:d>
                    </m:oMath>
                  </m:oMathPara>
                </a14:m>
              </a:p>
              <a:p>
                <a:pPr lvl="0" indent="0" marL="0">
                  <a:buNone/>
                </a:pPr>
                <a:r>
                  <a:rPr/>
                  <a:t>Thus, the final cart equation is:</a:t>
                </a:r>
              </a:p>
              <a:p>
                <a:pPr lvl="0" indent="0" marL="0">
                  <a:buNone/>
                </a:pPr>
                <a14:m>
                  <m:oMathPara xmlns:m="http://schemas.openxmlformats.org/officeDocument/2006/math">
                    <m:oMathParaPr>
                      <m:jc m:val="center"/>
                    </m:oMathParaPr>
                    <m:oMath>
                      <m:r>
                        <m:t>F</m:t>
                      </m:r>
                      <m:r>
                        <m:rPr>
                          <m:sty m:val="p"/>
                        </m:rPr>
                        <m:t>=</m:t>
                      </m:r>
                      <m:r>
                        <m:rPr>
                          <m:sty m:val="p"/>
                        </m:rPr>
                        <m:t>(</m:t>
                      </m:r>
                      <m:r>
                        <m:t>M</m:t>
                      </m:r>
                      <m:r>
                        <m:rPr>
                          <m:sty m:val="p"/>
                        </m:rPr>
                        <m:t>+</m:t>
                      </m:r>
                      <m:r>
                        <m:t>m</m:t>
                      </m:r>
                      <m:r>
                        <m:rPr>
                          <m:sty m:val="p"/>
                        </m:rPr>
                        <m:t>)</m:t>
                      </m:r>
                      <m:acc>
                        <m:accPr>
                          <m:chr m:val="̈"/>
                        </m:accPr>
                        <m:e>
                          <m:r>
                            <m:t>x</m:t>
                          </m:r>
                        </m:e>
                      </m:acc>
                      <m:r>
                        <m:rPr>
                          <m:sty m:val="p"/>
                        </m:rPr>
                        <m:t>+</m:t>
                      </m:r>
                      <m:r>
                        <m:t>b</m:t>
                      </m:r>
                      <m:acc>
                        <m:accPr>
                          <m:chr m:val="̇"/>
                        </m:accPr>
                        <m:e>
                          <m:r>
                            <m:t>x</m:t>
                          </m:r>
                        </m:e>
                      </m:acc>
                      <m:r>
                        <m:rPr>
                          <m:sty m:val="p"/>
                        </m:rPr>
                        <m:t>+</m:t>
                      </m:r>
                      <m:r>
                        <m:t>m</m:t>
                      </m:r>
                      <m:d>
                        <m:dPr>
                          <m:begChr m:val="("/>
                          <m:sepChr m:val=""/>
                          <m:endChr m:val=")"/>
                          <m:grow/>
                        </m:dPr>
                        <m:e>
                          <m:r>
                            <m:t>l</m:t>
                          </m:r>
                          <m:r>
                            <m:rPr>
                              <m:sty m:val="p"/>
                            </m:rPr>
                            <m:t>cos</m:t>
                          </m:r>
                          <m:r>
                            <m:t>θ</m:t>
                          </m:r>
                          <m:r>
                            <m:t> </m:t>
                          </m:r>
                          <m:acc>
                            <m:accPr>
                              <m:chr m:val="̈"/>
                            </m:accPr>
                            <m:e>
                              <m:r>
                                <m:t>θ</m:t>
                              </m:r>
                            </m:e>
                          </m:acc>
                          <m:r>
                            <m:rPr>
                              <m:sty m:val="p"/>
                            </m:rPr>
                            <m:t>−</m:t>
                          </m:r>
                          <m:r>
                            <m:t>l</m:t>
                          </m:r>
                          <m:r>
                            <m:rPr>
                              <m:sty m:val="p"/>
                            </m:rPr>
                            <m:t>sin</m:t>
                          </m:r>
                          <m:r>
                            <m:t>θ</m:t>
                          </m:r>
                          <m:r>
                            <m:t> </m:t>
                          </m:r>
                          <m:sSup>
                            <m:e>
                              <m:acc>
                                <m:accPr>
                                  <m:chr m:val="̇"/>
                                </m:accPr>
                                <m:e>
                                  <m:r>
                                    <m:t>θ</m:t>
                                  </m:r>
                                </m:e>
                              </m:acc>
                            </m:e>
                            <m:sup>
                              <m:r>
                                <m:t>2</m:t>
                              </m:r>
                            </m:sup>
                          </m:sSup>
                        </m:e>
                      </m:d>
                    </m:oMath>
                  </m:oMathPara>
                </a14:m>
              </a:p>
              <a:p>
                <a:pPr lvl="0" indent="0" marL="0">
                  <a:spcBef>
                    <a:spcPts val="3000"/>
                  </a:spcBef>
                  <a:buNone/>
                </a:pPr>
                <a:r>
                  <a:rPr b="1"/>
                  <a:t>Rotation (Moment) Equation</a:t>
                </a:r>
              </a:p>
            </p:txBody>
          </p:sp>
        </mc:Choice>
      </mc:AlternateContent>
      <p:pic>
        <p:nvPicPr>
          <p:cNvPr descr="media/rId33.png" id="0" name="Picture 1"/>
          <p:cNvPicPr>
            <a:picLocks noGrp="1" noChangeAspect="1"/>
          </p:cNvPicPr>
          <p:nvPr/>
        </p:nvPicPr>
        <p:blipFill>
          <a:blip r:embed="rId5"/>
          <a:stretch>
            <a:fillRect/>
          </a:stretch>
        </p:blipFill>
        <p:spPr bwMode="auto">
          <a:xfrm>
            <a:off x="3022600" y="1193800"/>
            <a:ext cx="3086100" cy="3390900"/>
          </a:xfrm>
          <a:prstGeom prst="rect">
            <a:avLst/>
          </a:prstGeom>
          <a:noFill/>
          <a:ln w="9525">
            <a:noFill/>
            <a:headEnd/>
            <a:tailEnd/>
          </a:ln>
        </p:spPr>
      </p:pic>
      <mc:AlternateContent xmlns:mc="http://schemas.openxmlformats.org/markup-compatibility/2006">
        <mc:Choice xmlns:a14="http://schemas.microsoft.com/office/drawing/2010/main" Requires="a14">
          <p:sp>
            <p:nvSpPr>
              <p:cNvPr id="3" name="Content Placeholder 2"/>
              <p:cNvSpPr>
                <a:spLocks noGrp="1"/>
              </p:cNvSpPr>
              <p:nvPr>
                <p:ph idx="1"/>
              </p:nvPr>
            </p:nvSpPr>
            <p:spPr/>
            <p:txBody>
              <a:bodyPr/>
              <a:lstStyle/>
              <a:p>
                <a:pPr lvl="0" indent="0" marL="0">
                  <a:buNone/>
                </a:pPr>
                <a:r>
                  <a:rPr/>
                  <a:t>According to Newton–Euler formulation:</a:t>
                </a:r>
              </a:p>
              <a:p>
                <a:pPr lvl="0" indent="0" marL="0">
                  <a:buNone/>
                </a:pPr>
                <a14:m>
                  <m:oMathPara xmlns:m="http://schemas.openxmlformats.org/officeDocument/2006/math">
                    <m:oMathParaPr>
                      <m:jc m:val="center"/>
                    </m:oMathParaPr>
                    <m:oMath>
                      <m:r>
                        <m:rPr>
                          <m:nor/>
                          <m:sty m:val="p"/>
                        </m:rPr>
                        <m:t>Torque</m:t>
                      </m:r>
                      <m:r>
                        <m:rPr>
                          <m:sty m:val="p"/>
                        </m:rPr>
                        <m:t>=</m:t>
                      </m:r>
                      <m:r>
                        <m:rPr>
                          <m:nor/>
                          <m:sty m:val="p"/>
                        </m:rPr>
                        <m:t>rate of change of angular momentum about pivot</m:t>
                      </m:r>
                    </m:oMath>
                  </m:oMathPara>
                </a14:m>
              </a:p>
              <a:p>
                <a:pPr lvl="0" indent="0" marL="0">
                  <a:buNone/>
                </a:pPr>
                <a:r>
                  <a:rPr/>
                  <a:t>Thus, the torque balance is:</a:t>
                </a:r>
              </a:p>
              <a:p>
                <a:pPr lvl="0" indent="0" marL="0">
                  <a:buNone/>
                </a:pPr>
                <a14:m>
                  <m:oMathPara xmlns:m="http://schemas.openxmlformats.org/officeDocument/2006/math">
                    <m:oMathParaPr>
                      <m:jc m:val="center"/>
                    </m:oMathParaPr>
                    <m:oMath>
                      <m:r>
                        <m:rPr>
                          <m:sty m:val="p"/>
                        </m:rPr>
                        <m:t>∑</m:t>
                      </m:r>
                      <m:sSub>
                        <m:e>
                          <m:r>
                            <m:t>τ</m:t>
                          </m:r>
                        </m:e>
                        <m:sub>
                          <m:r>
                            <m:rPr>
                              <m:nor/>
                              <m:sty m:val="p"/>
                            </m:rPr>
                            <m:t>pivot</m:t>
                          </m:r>
                        </m:sub>
                      </m:sSub>
                      <m:r>
                        <m:rPr>
                          <m:sty m:val="p"/>
                        </m:rPr>
                        <m:t>=</m:t>
                      </m:r>
                      <m:sSub>
                        <m:e>
                          <m:r>
                            <m:t>I</m:t>
                          </m:r>
                        </m:e>
                        <m:sub>
                          <m:r>
                            <m:t>p</m:t>
                          </m:r>
                        </m:sub>
                      </m:sSub>
                      <m:acc>
                        <m:accPr>
                          <m:chr m:val="̈"/>
                        </m:accPr>
                        <m:e>
                          <m:r>
                            <m:t>θ</m:t>
                          </m:r>
                        </m:e>
                      </m:acc>
                    </m:oMath>
                  </m:oMathPara>
                </a14:m>
              </a:p>
              <a:p>
                <a:pPr lvl="0" indent="0" marL="0">
                  <a:buNone/>
                </a:pPr>
                <a:r>
                  <a:rPr/>
                  <a:t>where the moment of inertia about the pivot is obtained using the parallel axis theorem:</a:t>
                </a:r>
              </a:p>
              <a:p>
                <a:pPr lvl="0" indent="0" marL="0">
                  <a:buNone/>
                </a:pPr>
                <a14:m>
                  <m:oMathPara xmlns:m="http://schemas.openxmlformats.org/officeDocument/2006/math">
                    <m:oMathParaPr>
                      <m:jc m:val="center"/>
                    </m:oMathParaPr>
                    <m:oMath>
                      <m:sSub>
                        <m:e>
                          <m:r>
                            <m:t>I</m:t>
                          </m:r>
                        </m:e>
                        <m:sub>
                          <m:r>
                            <m:t>p</m:t>
                          </m:r>
                        </m:sub>
                      </m:sSub>
                      <m:r>
                        <m:rPr>
                          <m:sty m:val="p"/>
                        </m:rPr>
                        <m:t>=</m:t>
                      </m:r>
                      <m:r>
                        <m:t>I</m:t>
                      </m:r>
                      <m:r>
                        <m:rPr>
                          <m:sty m:val="p"/>
                        </m:rPr>
                        <m:t>+</m:t>
                      </m:r>
                      <m:r>
                        <m:t>m</m:t>
                      </m:r>
                      <m:sSup>
                        <m:e>
                          <m:r>
                            <m:t>l</m:t>
                          </m:r>
                        </m:e>
                        <m:sup>
                          <m:r>
                            <m:t>2</m:t>
                          </m:r>
                        </m:sup>
                      </m:sSup>
                    </m:oMath>
                  </m:oMathPara>
                </a14:m>
              </a:p>
              <a:p>
                <a:pPr lvl="0" indent="0" marL="0">
                  <a:buNone/>
                </a:pPr>
                <a:r>
                  <a:rPr/>
                  <a:t>Torque balance about the pivot:</a:t>
                </a:r>
              </a:p>
              <a:p>
                <a:pPr lvl="0" indent="0" marL="0">
                  <a:buNone/>
                </a:pPr>
                <a14:m>
                  <m:oMathPara xmlns:m="http://schemas.openxmlformats.org/officeDocument/2006/math">
                    <m:oMathParaPr>
                      <m:jc m:val="center"/>
                    </m:oMathParaPr>
                    <m:oMath>
                      <m:r>
                        <m:t>P</m:t>
                      </m:r>
                      <m:r>
                        <m:rPr>
                          <m:sty m:val="p"/>
                        </m:rPr>
                        <m:t>sin</m:t>
                      </m:r>
                      <m:r>
                        <m:t>θ</m:t>
                      </m:r>
                      <m:r>
                        <m:rPr>
                          <m:sty m:val="p"/>
                        </m:rPr>
                        <m:t>+</m:t>
                      </m:r>
                      <m:r>
                        <m:t>N</m:t>
                      </m:r>
                      <m:r>
                        <m:rPr>
                          <m:sty m:val="p"/>
                        </m:rPr>
                        <m:t>cos</m:t>
                      </m:r>
                      <m:r>
                        <m:t>θ</m:t>
                      </m:r>
                      <m:r>
                        <m:rPr>
                          <m:sty m:val="p"/>
                        </m:rPr>
                        <m:t>−</m:t>
                      </m:r>
                      <m:r>
                        <m:t>m</m:t>
                      </m:r>
                      <m:r>
                        <m:t>g</m:t>
                      </m:r>
                      <m:r>
                        <m:rPr>
                          <m:sty m:val="p"/>
                        </m:rPr>
                        <m:t>sin</m:t>
                      </m:r>
                      <m:r>
                        <m:t>θ</m:t>
                      </m:r>
                      <m:r>
                        <m:rPr>
                          <m:sty m:val="p"/>
                        </m:rPr>
                        <m:t>=</m:t>
                      </m:r>
                      <m:r>
                        <m:t>m</m:t>
                      </m:r>
                      <m:r>
                        <m:t>l</m:t>
                      </m:r>
                      <m:acc>
                        <m:accPr>
                          <m:chr m:val="̈"/>
                        </m:accPr>
                        <m:e>
                          <m:r>
                            <m:t>θ</m:t>
                          </m:r>
                        </m:e>
                      </m:acc>
                      <m:r>
                        <m:rPr>
                          <m:sty m:val="p"/>
                        </m:rPr>
                        <m:t>+</m:t>
                      </m:r>
                      <m:r>
                        <m:t>m</m:t>
                      </m:r>
                      <m:acc>
                        <m:accPr>
                          <m:chr m:val="̈"/>
                        </m:accPr>
                        <m:e>
                          <m:r>
                            <m:t>x</m:t>
                          </m:r>
                        </m:e>
                      </m:acc>
                      <m:r>
                        <m:rPr>
                          <m:sty m:val="p"/>
                        </m:rPr>
                        <m:t>cos</m:t>
                      </m:r>
                      <m:r>
                        <m:t>θ</m:t>
                      </m:r>
                    </m:oMath>
                  </m:oMathPara>
                </a14:m>
              </a:p>
              <a:p>
                <a:pPr lvl="0" indent="0" marL="0">
                  <a:buNone/>
                </a:pPr>
                <a:r>
                  <a:rPr/>
                  <a:t>Moment about the center of mass (COM):</a:t>
                </a:r>
              </a:p>
              <a:p>
                <a:pPr lvl="0" indent="0" marL="0">
                  <a:buNone/>
                </a:pPr>
                <a14:m>
                  <m:oMathPara xmlns:m="http://schemas.openxmlformats.org/officeDocument/2006/math">
                    <m:oMathParaPr>
                      <m:jc m:val="center"/>
                    </m:oMathParaPr>
                    <m:oMath>
                      <m:r>
                        <m:rPr>
                          <m:sty m:val="p"/>
                        </m:rPr>
                        <m:t>−</m:t>
                      </m:r>
                      <m:r>
                        <m:rPr>
                          <m:sty m:val="p"/>
                        </m:rPr>
                        <m:t>(</m:t>
                      </m:r>
                      <m:r>
                        <m:t>P</m:t>
                      </m:r>
                      <m:r>
                        <m:rPr>
                          <m:sty m:val="p"/>
                        </m:rPr>
                        <m:t>sin</m:t>
                      </m:r>
                      <m:r>
                        <m:t>θ</m:t>
                      </m:r>
                      <m:r>
                        <m:rPr>
                          <m:sty m:val="p"/>
                        </m:rPr>
                        <m:t>)</m:t>
                      </m:r>
                      <m:r>
                        <m:t>l</m:t>
                      </m:r>
                      <m:r>
                        <m:rPr>
                          <m:sty m:val="p"/>
                        </m:rPr>
                        <m:t>−</m:t>
                      </m:r>
                      <m:r>
                        <m:rPr>
                          <m:sty m:val="p"/>
                        </m:rPr>
                        <m:t>(</m:t>
                      </m:r>
                      <m:r>
                        <m:t>N</m:t>
                      </m:r>
                      <m:r>
                        <m:rPr>
                          <m:sty m:val="p"/>
                        </m:rPr>
                        <m:t>cos</m:t>
                      </m:r>
                      <m:r>
                        <m:t>θ</m:t>
                      </m:r>
                      <m:r>
                        <m:rPr>
                          <m:sty m:val="p"/>
                        </m:rPr>
                        <m:t>)</m:t>
                      </m:r>
                      <m:r>
                        <m:t>l</m:t>
                      </m:r>
                      <m:r>
                        <m:rPr>
                          <m:sty m:val="p"/>
                        </m:rPr>
                        <m:t>=</m:t>
                      </m:r>
                      <m:r>
                        <m:t>I</m:t>
                      </m:r>
                      <m:acc>
                        <m:accPr>
                          <m:chr m:val="̈"/>
                        </m:accPr>
                        <m:e>
                          <m:r>
                            <m:t>θ</m:t>
                          </m:r>
                        </m:e>
                      </m:acc>
                    </m:oMath>
                  </m:oMathPara>
                </a14:m>
              </a:p>
              <a:p>
                <a:pPr lvl="0" indent="0" marL="0">
                  <a:buNone/>
                </a:pPr>
                <a:r>
                  <a:rPr/>
                  <a:t>Combining both and eliminating </a:t>
                </a:r>
                <a14:m>
                  <m:oMath xmlns:m="http://schemas.openxmlformats.org/officeDocument/2006/math">
                    <m:r>
                      <m:t>P</m:t>
                    </m:r>
                    <m:r>
                      <m:rPr>
                        <m:sty m:val="p"/>
                      </m:rPr>
                      <m:t>,</m:t>
                    </m:r>
                    <m:r>
                      <m:t>N</m:t>
                    </m:r>
                  </m:oMath>
                </a14:m>
                <a:r>
                  <a:rPr/>
                  <a:t>:</a:t>
                </a:r>
              </a:p>
              <a:p>
                <a:pPr lvl="0" indent="0" marL="0">
                  <a:buNone/>
                </a:pPr>
                <a14:m>
                  <m:oMathPara xmlns:m="http://schemas.openxmlformats.org/officeDocument/2006/math">
                    <m:oMathParaPr>
                      <m:jc m:val="center"/>
                    </m:oMathParaPr>
                    <m:oMath>
                      <m:r>
                        <m:rPr>
                          <m:sty m:val="p"/>
                        </m:rPr>
                        <m:t>−</m:t>
                      </m:r>
                      <m:r>
                        <m:t>m</m:t>
                      </m:r>
                      <m:r>
                        <m:t>g</m:t>
                      </m:r>
                      <m:r>
                        <m:t>l</m:t>
                      </m:r>
                      <m:r>
                        <m:rPr>
                          <m:sty m:val="p"/>
                        </m:rPr>
                        <m:t>sin</m:t>
                      </m:r>
                      <m:r>
                        <m:t>θ</m:t>
                      </m:r>
                      <m:r>
                        <m:rPr>
                          <m:sty m:val="p"/>
                        </m:rPr>
                        <m:t>=</m:t>
                      </m:r>
                      <m:r>
                        <m:t>m</m:t>
                      </m:r>
                      <m:r>
                        <m:t>l</m:t>
                      </m:r>
                      <m:acc>
                        <m:accPr>
                          <m:chr m:val="̈"/>
                        </m:accPr>
                        <m:e>
                          <m:r>
                            <m:t>θ</m:t>
                          </m:r>
                        </m:e>
                      </m:acc>
                      <m:r>
                        <m:rPr>
                          <m:sty m:val="p"/>
                        </m:rPr>
                        <m:t>+</m:t>
                      </m:r>
                      <m:r>
                        <m:t>m</m:t>
                      </m:r>
                      <m:acc>
                        <m:accPr>
                          <m:chr m:val="̈"/>
                        </m:accPr>
                        <m:e>
                          <m:r>
                            <m:t>x</m:t>
                          </m:r>
                        </m:e>
                      </m:acc>
                      <m:r>
                        <m:t>l</m:t>
                      </m:r>
                      <m:r>
                        <m:rPr>
                          <m:sty m:val="p"/>
                        </m:rPr>
                        <m:t>cos</m:t>
                      </m:r>
                      <m:r>
                        <m:t>θ</m:t>
                      </m:r>
                      <m:r>
                        <m:rPr>
                          <m:sty m:val="p"/>
                        </m:rPr>
                        <m:t>+</m:t>
                      </m:r>
                      <m:r>
                        <m:t>I</m:t>
                      </m:r>
                      <m:acc>
                        <m:accPr>
                          <m:chr m:val="̈"/>
                        </m:accPr>
                        <m:e>
                          <m:r>
                            <m:t>θ</m:t>
                          </m:r>
                        </m:e>
                      </m:acc>
                    </m:oMath>
                  </m:oMathPara>
                </a14:m>
              </a:p>
              <a:p>
                <a:pPr lvl="0" indent="0" marL="0">
                  <a:buNone/>
                </a:pPr>
                <a:r>
                  <a:rPr/>
                  <a:t>Finally, the compact form is:</a:t>
                </a:r>
              </a:p>
              <a:p>
                <a:pPr lvl="0" indent="0" marL="0">
                  <a:buNone/>
                </a:pPr>
                <a14:m>
                  <m:oMathPara xmlns:m="http://schemas.openxmlformats.org/officeDocument/2006/math">
                    <m:oMathParaPr>
                      <m:jc m:val="center"/>
                    </m:oMathParaPr>
                    <m:oMath>
                      <m:borderBox>
                        <m:e>
                          <m:d>
                            <m:dPr>
                              <m:begChr m:val="("/>
                              <m:sepChr m:val=""/>
                              <m:endChr m:val=")"/>
                              <m:grow/>
                            </m:dPr>
                            <m:e>
                              <m:r>
                                <m:t>I</m:t>
                              </m:r>
                              <m:r>
                                <m:rPr>
                                  <m:sty m:val="p"/>
                                </m:rPr>
                                <m:t>+</m:t>
                              </m:r>
                              <m:r>
                                <m:t>m</m:t>
                              </m:r>
                              <m:sSup>
                                <m:e>
                                  <m:r>
                                    <m:t>l</m:t>
                                  </m:r>
                                </m:e>
                                <m:sup>
                                  <m:r>
                                    <m:t>2</m:t>
                                  </m:r>
                                </m:sup>
                              </m:sSup>
                            </m:e>
                          </m:d>
                          <m:acc>
                            <m:accPr>
                              <m:chr m:val="̈"/>
                            </m:accPr>
                            <m:e>
                              <m:r>
                                <m:t>θ</m:t>
                              </m:r>
                            </m:e>
                          </m:acc>
                          <m:r>
                            <m:rPr>
                              <m:sty m:val="p"/>
                            </m:rPr>
                            <m:t>+</m:t>
                          </m:r>
                          <m:r>
                            <m:t>m</m:t>
                          </m:r>
                          <m:r>
                            <m:t>g</m:t>
                          </m:r>
                          <m:r>
                            <m:t>l</m:t>
                          </m:r>
                          <m:r>
                            <m:rPr>
                              <m:sty m:val="p"/>
                            </m:rPr>
                            <m:t>sin</m:t>
                          </m:r>
                          <m:r>
                            <m:t>θ</m:t>
                          </m:r>
                          <m:r>
                            <m:rPr>
                              <m:sty m:val="p"/>
                            </m:rPr>
                            <m:t>=</m:t>
                          </m:r>
                          <m:r>
                            <m:rPr>
                              <m:sty m:val="p"/>
                            </m:rPr>
                            <m:t>−</m:t>
                          </m:r>
                          <m:r>
                            <m:t>m</m:t>
                          </m:r>
                          <m:acc>
                            <m:accPr>
                              <m:chr m:val="̈"/>
                            </m:accPr>
                            <m:e>
                              <m:r>
                                <m:t>x</m:t>
                              </m:r>
                            </m:e>
                          </m:acc>
                          <m:r>
                            <m:t> </m:t>
                          </m:r>
                          <m:r>
                            <m:rPr>
                              <m:sty m:val="p"/>
                            </m:rPr>
                            <m:t>(</m:t>
                          </m:r>
                          <m:r>
                            <m:t>l</m:t>
                          </m:r>
                          <m:r>
                            <m:rPr>
                              <m:sty m:val="p"/>
                            </m:rPr>
                            <m:t>cos</m:t>
                          </m:r>
                          <m:r>
                            <m:t>θ</m:t>
                          </m:r>
                          <m:r>
                            <m:rPr>
                              <m:sty m:val="p"/>
                            </m:rPr>
                            <m:t>)</m:t>
                          </m:r>
                        </m:e>
                      </m:borderBox>
                    </m:oMath>
                  </m:oMathPara>
                </a14:m>
              </a:p>
              <a:p>
                <a:pPr lvl="0" indent="0" marL="0">
                  <a:spcBef>
                    <a:spcPts val="3000"/>
                  </a:spcBef>
                  <a:buNone/>
                </a:pPr>
                <a:r>
                  <a:rPr b="1"/>
                  <a:t>Linearization of the System</a:t>
                </a:r>
              </a:p>
              <a:p>
                <a:pPr lvl="0" indent="0" marL="0">
                  <a:buNone/>
                </a:pPr>
                <a:r>
                  <a:rPr/>
                  <a:t>Since the analysis and control design techniques are only be done here for linear systems, this set of equations needs to be linearized. About the vertically upward equilibrium position, </a:t>
                </a:r>
                <a14:m>
                  <m:oMath xmlns:m="http://schemas.openxmlformats.org/officeDocument/2006/math">
                    <m:r>
                      <m:t>θ</m:t>
                    </m:r>
                    <m:r>
                      <m:rPr>
                        <m:sty m:val="p"/>
                      </m:rPr>
                      <m:t>=</m:t>
                    </m:r>
                    <m:r>
                      <m:t>π</m:t>
                    </m:r>
                  </m:oMath>
                </a14:m>
                <a:r>
                  <a:rPr/>
                  <a:t>, and assuming that the system stays within a small neighborhood of this equilibrium, which is valid since deviation less than </a:t>
                </a:r>
                <a14:m>
                  <m:oMath xmlns:m="http://schemas.openxmlformats.org/officeDocument/2006/math">
                    <m:sSup>
                      <m:e>
                        <m:r>
                          <m:t>20</m:t>
                        </m:r>
                      </m:e>
                      <m:sup>
                        <m:r>
                          <m:rPr>
                            <m:sty m:val="p"/>
                          </m:rPr>
                          <m:t>∘</m:t>
                        </m:r>
                      </m:sup>
                    </m:sSup>
                  </m:oMath>
                </a14:m>
                <a:r>
                  <a:rPr/>
                  <a:t> from the vertically upward position is desirable.</a:t>
                </a:r>
              </a:p>
              <a:p>
                <a:pPr lvl="0" indent="0" marL="0">
                  <a:buNone/>
                </a:pPr>
                <a:r>
                  <a:rPr/>
                  <a:t>Let </a:t>
                </a:r>
                <a14:m>
                  <m:oMath xmlns:m="http://schemas.openxmlformats.org/officeDocument/2006/math">
                    <m:r>
                      <m:t>ϕ</m:t>
                    </m:r>
                  </m:oMath>
                </a14:m>
                <a:r>
                  <a:rPr/>
                  <a:t> represent the deviation of the pendulum’s position from equilibrium, that is, </a:t>
                </a:r>
                <a14:m>
                  <m:oMath xmlns:m="http://schemas.openxmlformats.org/officeDocument/2006/math">
                    <m:r>
                      <m:t>θ</m:t>
                    </m:r>
                    <m:r>
                      <m:rPr>
                        <m:sty m:val="p"/>
                      </m:rPr>
                      <m:t>=</m:t>
                    </m:r>
                    <m:r>
                      <m:t>π</m:t>
                    </m:r>
                    <m:r>
                      <m:rPr>
                        <m:sty m:val="p"/>
                      </m:rPr>
                      <m:t>+</m:t>
                    </m:r>
                    <m:r>
                      <m:t>ϕ</m:t>
                    </m:r>
                  </m:oMath>
                </a14:m>
                <a:r>
                  <a:rPr/>
                  <a:t>. Again presuming a small deviation (</a:t>
                </a:r>
                <a14:m>
                  <m:oMath xmlns:m="http://schemas.openxmlformats.org/officeDocument/2006/math">
                    <m:r>
                      <m:t>ϕ</m:t>
                    </m:r>
                  </m:oMath>
                </a14:m>
                <a:r>
                  <a:rPr/>
                  <a:t>) from equilibrium, we can use the following small angle approximations of the nonlinear functions in our system equations:</a:t>
                </a:r>
              </a:p>
              <a:p>
                <a:pPr lvl="0" indent="0" marL="0">
                  <a:buNone/>
                </a:pPr>
                <a14:m>
                  <m:oMathPara xmlns:m="http://schemas.openxmlformats.org/officeDocument/2006/math">
                    <m:oMathParaPr>
                      <m:jc m:val="center"/>
                    </m:oMathParaPr>
                    <m:oMath>
                      <m:r>
                        <m:rPr>
                          <m:sty m:val="p"/>
                        </m:rPr>
                        <m:t>cos</m:t>
                      </m:r>
                      <m:r>
                        <m:t>θ</m:t>
                      </m:r>
                      <m:r>
                        <m:rPr>
                          <m:sty m:val="p"/>
                        </m:rPr>
                        <m:t>=</m:t>
                      </m:r>
                      <m:r>
                        <m:rPr>
                          <m:sty m:val="p"/>
                        </m:rPr>
                        <m:t>cos</m:t>
                      </m:r>
                      <m:r>
                        <m:rPr>
                          <m:sty m:val="p"/>
                        </m:rPr>
                        <m:t>(</m:t>
                      </m:r>
                      <m:r>
                        <m:t>π</m:t>
                      </m:r>
                      <m:r>
                        <m:rPr>
                          <m:sty m:val="p"/>
                        </m:rPr>
                        <m:t>+</m:t>
                      </m:r>
                      <m:r>
                        <m:t>ϕ</m:t>
                      </m:r>
                      <m:r>
                        <m:rPr>
                          <m:sty m:val="p"/>
                        </m:rPr>
                        <m:t>)</m:t>
                      </m:r>
                      <m:r>
                        <m:rPr>
                          <m:sty m:val="p"/>
                        </m:rPr>
                        <m:t>≈</m:t>
                      </m:r>
                      <m:r>
                        <m:rPr>
                          <m:sty m:val="p"/>
                        </m:rPr>
                        <m:t>−</m:t>
                      </m:r>
                      <m:r>
                        <m:t>1</m:t>
                      </m:r>
                    </m:oMath>
                  </m:oMathPara>
                </a14:m>
              </a:p>
              <a:p>
                <a:pPr lvl="0" indent="0" marL="0">
                  <a:buNone/>
                </a:pPr>
                <a14:m>
                  <m:oMathPara xmlns:m="http://schemas.openxmlformats.org/officeDocument/2006/math">
                    <m:oMathParaPr>
                      <m:jc m:val="center"/>
                    </m:oMathParaPr>
                    <m:oMath>
                      <m:r>
                        <m:rPr>
                          <m:sty m:val="p"/>
                        </m:rPr>
                        <m:t>sin</m:t>
                      </m:r>
                      <m:r>
                        <m:t>θ</m:t>
                      </m:r>
                      <m:r>
                        <m:rPr>
                          <m:sty m:val="p"/>
                        </m:rPr>
                        <m:t>=</m:t>
                      </m:r>
                      <m:r>
                        <m:rPr>
                          <m:sty m:val="p"/>
                        </m:rPr>
                        <m:t>sin</m:t>
                      </m:r>
                      <m:r>
                        <m:rPr>
                          <m:sty m:val="p"/>
                        </m:rPr>
                        <m:t>(</m:t>
                      </m:r>
                      <m:r>
                        <m:t>π</m:t>
                      </m:r>
                      <m:r>
                        <m:rPr>
                          <m:sty m:val="p"/>
                        </m:rPr>
                        <m:t>+</m:t>
                      </m:r>
                      <m:r>
                        <m:t>ϕ</m:t>
                      </m:r>
                      <m:r>
                        <m:rPr>
                          <m:sty m:val="p"/>
                        </m:rPr>
                        <m:t>)</m:t>
                      </m:r>
                      <m:r>
                        <m:rPr>
                          <m:sty m:val="p"/>
                        </m:rPr>
                        <m:t>≈</m:t>
                      </m:r>
                      <m:r>
                        <m:rPr>
                          <m:sty m:val="p"/>
                        </m:rPr>
                        <m:t>−</m:t>
                      </m:r>
                      <m:r>
                        <m:t>ϕ</m:t>
                      </m:r>
                    </m:oMath>
                  </m:oMathPara>
                </a14:m>
              </a:p>
              <a:p>
                <a:pPr lvl="0" indent="0" marL="0">
                  <a:buNone/>
                </a:pPr>
                <a14:m>
                  <m:oMathPara xmlns:m="http://schemas.openxmlformats.org/officeDocument/2006/math">
                    <m:oMathParaPr>
                      <m:jc m:val="center"/>
                    </m:oMathParaPr>
                    <m:oMath>
                      <m:sSup>
                        <m:e>
                          <m:acc>
                            <m:accPr>
                              <m:chr m:val="̇"/>
                            </m:accPr>
                            <m:e>
                              <m:r>
                                <m:t>θ</m:t>
                              </m:r>
                            </m:e>
                          </m:acc>
                        </m:e>
                        <m:sup>
                          <m:r>
                            <m:t>2</m:t>
                          </m:r>
                        </m:sup>
                      </m:sSup>
                      <m:r>
                        <m:rPr>
                          <m:sty m:val="p"/>
                        </m:rPr>
                        <m:t>=</m:t>
                      </m:r>
                      <m:sSup>
                        <m:e>
                          <m:acc>
                            <m:accPr>
                              <m:chr m:val="̇"/>
                            </m:accPr>
                            <m:e>
                              <m:r>
                                <m:t>ϕ</m:t>
                              </m:r>
                            </m:e>
                          </m:acc>
                        </m:e>
                        <m:sup>
                          <m:r>
                            <m:t>2</m:t>
                          </m:r>
                        </m:sup>
                      </m:sSup>
                      <m:r>
                        <m:rPr>
                          <m:sty m:val="p"/>
                        </m:rPr>
                        <m:t>≈</m:t>
                      </m:r>
                      <m:r>
                        <m:t>0</m:t>
                      </m:r>
                    </m:oMath>
                  </m:oMathPara>
                </a14:m>
              </a:p>
              <a:p>
                <a:pPr lvl="0" indent="0" marL="0">
                  <a:buNone/>
                </a:pPr>
                <a:r>
                  <a:rPr/>
                  <a:t>After substituting the above approximations into our nonlinear governing equations, we arrive at the two linearized equations of motion. Note </a:t>
                </a:r>
                <a14:m>
                  <m:oMath xmlns:m="http://schemas.openxmlformats.org/officeDocument/2006/math">
                    <m:r>
                      <m:t>u</m:t>
                    </m:r>
                  </m:oMath>
                </a14:m>
                <a:r>
                  <a:rPr/>
                  <a:t> has been substituted for the input </a:t>
                </a:r>
                <a14:m>
                  <m:oMath xmlns:m="http://schemas.openxmlformats.org/officeDocument/2006/math">
                    <m:r>
                      <m:t>F</m:t>
                    </m:r>
                  </m:oMath>
                </a14:m>
                <a:r>
                  <a:rPr/>
                  <a:t>.</a:t>
                </a:r>
              </a:p>
              <a:p>
                <a:pPr lvl="0" indent="0" marL="0">
                  <a:buNone/>
                </a:pPr>
                <a14:m>
                  <m:oMathPara xmlns:m="http://schemas.openxmlformats.org/officeDocument/2006/math">
                    <m:oMathParaPr>
                      <m:jc m:val="center"/>
                    </m:oMathParaPr>
                    <m:oMath>
                      <m:r>
                        <m:rPr>
                          <m:sty m:val="p"/>
                        </m:rPr>
                        <m:t>(</m:t>
                      </m:r>
                      <m:r>
                        <m:t>I</m:t>
                      </m:r>
                      <m:r>
                        <m:rPr>
                          <m:sty m:val="p"/>
                        </m:rPr>
                        <m:t>+</m:t>
                      </m:r>
                      <m:r>
                        <m:t>m</m:t>
                      </m:r>
                      <m:sSup>
                        <m:e>
                          <m:r>
                            <m:t>l</m:t>
                          </m:r>
                        </m:e>
                        <m:sup>
                          <m:r>
                            <m:t>2</m:t>
                          </m:r>
                        </m:sup>
                      </m:sSup>
                      <m:r>
                        <m:rPr>
                          <m:sty m:val="p"/>
                        </m:rPr>
                        <m:t>)</m:t>
                      </m:r>
                      <m:acc>
                        <m:accPr>
                          <m:chr m:val="̈"/>
                        </m:accPr>
                        <m:e>
                          <m:r>
                            <m:t>ϕ</m:t>
                          </m:r>
                        </m:e>
                      </m:acc>
                      <m:r>
                        <m:rPr>
                          <m:sty m:val="p"/>
                        </m:rPr>
                        <m:t>−</m:t>
                      </m:r>
                      <m:r>
                        <m:t>m</m:t>
                      </m:r>
                      <m:r>
                        <m:t>g</m:t>
                      </m:r>
                      <m:r>
                        <m:t>l</m:t>
                      </m:r>
                      <m:r>
                        <m:t>ϕ</m:t>
                      </m:r>
                      <m:r>
                        <m:rPr>
                          <m:sty m:val="p"/>
                        </m:rPr>
                        <m:t>=</m:t>
                      </m:r>
                      <m:r>
                        <m:t>m</m:t>
                      </m:r>
                      <m:r>
                        <m:t>l</m:t>
                      </m:r>
                      <m:acc>
                        <m:accPr>
                          <m:chr m:val="̈"/>
                        </m:accPr>
                        <m:e>
                          <m:r>
                            <m:t>x</m:t>
                          </m:r>
                        </m:e>
                      </m:acc>
                    </m:oMath>
                  </m:oMathPara>
                </a14:m>
              </a:p>
              <a:p>
                <a:pPr lvl="0" indent="0" marL="0">
                  <a:buNone/>
                </a:pPr>
                <a14:m>
                  <m:oMathPara xmlns:m="http://schemas.openxmlformats.org/officeDocument/2006/math">
                    <m:oMathParaPr>
                      <m:jc m:val="center"/>
                    </m:oMathParaPr>
                    <m:oMath>
                      <m:r>
                        <m:rPr>
                          <m:sty m:val="p"/>
                        </m:rPr>
                        <m:t>(</m:t>
                      </m:r>
                      <m:r>
                        <m:t>M</m:t>
                      </m:r>
                      <m:r>
                        <m:rPr>
                          <m:sty m:val="p"/>
                        </m:rPr>
                        <m:t>+</m:t>
                      </m:r>
                      <m:r>
                        <m:t>m</m:t>
                      </m:r>
                      <m:r>
                        <m:rPr>
                          <m:sty m:val="p"/>
                        </m:rPr>
                        <m:t>)</m:t>
                      </m:r>
                      <m:acc>
                        <m:accPr>
                          <m:chr m:val="̈"/>
                        </m:accPr>
                        <m:e>
                          <m:r>
                            <m:t>x</m:t>
                          </m:r>
                        </m:e>
                      </m:acc>
                      <m:r>
                        <m:rPr>
                          <m:sty m:val="p"/>
                        </m:rPr>
                        <m:t>+</m:t>
                      </m:r>
                      <m:r>
                        <m:t>b</m:t>
                      </m:r>
                      <m:acc>
                        <m:accPr>
                          <m:chr m:val="̇"/>
                        </m:accPr>
                        <m:e>
                          <m:r>
                            <m:t>x</m:t>
                          </m:r>
                        </m:e>
                      </m:acc>
                      <m:r>
                        <m:rPr>
                          <m:sty m:val="p"/>
                        </m:rPr>
                        <m:t>−</m:t>
                      </m:r>
                      <m:r>
                        <m:t>m</m:t>
                      </m:r>
                      <m:r>
                        <m:t>l</m:t>
                      </m:r>
                      <m:acc>
                        <m:accPr>
                          <m:chr m:val="̈"/>
                        </m:accPr>
                        <m:e>
                          <m:r>
                            <m:t>ϕ</m:t>
                          </m:r>
                        </m:e>
                      </m:acc>
                      <m:r>
                        <m:rPr>
                          <m:sty m:val="p"/>
                        </m:rPr>
                        <m:t>=</m:t>
                      </m:r>
                      <m:r>
                        <m:t>u</m:t>
                      </m:r>
                    </m:oMath>
                  </m:oMathPara>
                </a14:m>
              </a:p>
              <a:p>
                <a:pPr lvl="0" indent="0" marL="0">
                  <a:spcBef>
                    <a:spcPts val="3000"/>
                  </a:spcBef>
                  <a:buNone/>
                </a:pPr>
                <a:r>
                  <a:rPr b="1"/>
                  <a:t>Transfer Function</a:t>
                </a:r>
              </a:p>
              <a:p>
                <a:pPr lvl="0" indent="0" marL="0">
                  <a:buNone/>
                </a:pPr>
                <a:r>
                  <a:rPr/>
                  <a:t>To obtain the transfer functions, we must first take the Laplace transform of the system equations assuming zero initial conditions.</a:t>
                </a:r>
              </a:p>
              <a:p>
                <a:pPr lvl="0" indent="0" marL="0">
                  <a:buNone/>
                </a:pPr>
                <a14:m>
                  <m:oMathPara xmlns:m="http://schemas.openxmlformats.org/officeDocument/2006/math">
                    <m:oMathParaPr>
                      <m:jc m:val="center"/>
                    </m:oMathParaPr>
                    <m:oMath>
                      <m:r>
                        <m:rPr>
                          <m:sty m:val="p"/>
                        </m:rPr>
                        <m:t>(</m:t>
                      </m:r>
                      <m:r>
                        <m:t>I</m:t>
                      </m:r>
                      <m:r>
                        <m:rPr>
                          <m:sty m:val="p"/>
                        </m:rPr>
                        <m:t>+</m:t>
                      </m:r>
                      <m:r>
                        <m:t>m</m:t>
                      </m:r>
                      <m:sSup>
                        <m:e>
                          <m:r>
                            <m:t>l</m:t>
                          </m:r>
                        </m:e>
                        <m:sup>
                          <m:r>
                            <m:t>2</m:t>
                          </m:r>
                        </m:sup>
                      </m:sSup>
                      <m:r>
                        <m:rPr>
                          <m:sty m:val="p"/>
                        </m:rPr>
                        <m:t>)</m:t>
                      </m:r>
                      <m:r>
                        <m:rPr>
                          <m:sty m:val="p"/>
                        </m:rPr>
                        <m:t>Φ</m:t>
                      </m:r>
                      <m:r>
                        <m:rPr>
                          <m:sty m:val="p"/>
                        </m:rPr>
                        <m:t>(</m:t>
                      </m:r>
                      <m:r>
                        <m:t>s</m:t>
                      </m:r>
                      <m:r>
                        <m:rPr>
                          <m:sty m:val="p"/>
                        </m:rPr>
                        <m:t>)</m:t>
                      </m:r>
                      <m:sSup>
                        <m:e>
                          <m:r>
                            <m:t>s</m:t>
                          </m:r>
                        </m:e>
                        <m:sup>
                          <m:r>
                            <m:t>2</m:t>
                          </m:r>
                        </m:sup>
                      </m:sSup>
                      <m:r>
                        <m:rPr>
                          <m:sty m:val="p"/>
                        </m:rPr>
                        <m:t>−</m:t>
                      </m:r>
                      <m:r>
                        <m:t>m</m:t>
                      </m:r>
                      <m:r>
                        <m:t>g</m:t>
                      </m:r>
                      <m:r>
                        <m:t>l</m:t>
                      </m:r>
                      <m:r>
                        <m:rPr>
                          <m:sty m:val="p"/>
                        </m:rPr>
                        <m:t>Φ</m:t>
                      </m:r>
                      <m:r>
                        <m:rPr>
                          <m:sty m:val="p"/>
                        </m:rPr>
                        <m:t>(</m:t>
                      </m:r>
                      <m:r>
                        <m:t>s</m:t>
                      </m:r>
                      <m:r>
                        <m:rPr>
                          <m:sty m:val="p"/>
                        </m:rPr>
                        <m:t>)</m:t>
                      </m:r>
                      <m:r>
                        <m:rPr>
                          <m:sty m:val="p"/>
                        </m:rPr>
                        <m:t>=</m:t>
                      </m:r>
                      <m:r>
                        <m:t>m</m:t>
                      </m:r>
                      <m:r>
                        <m:t>l</m:t>
                      </m:r>
                      <m:r>
                        <m:t>X</m:t>
                      </m:r>
                      <m:r>
                        <m:rPr>
                          <m:sty m:val="p"/>
                        </m:rPr>
                        <m:t>(</m:t>
                      </m:r>
                      <m:r>
                        <m:t>s</m:t>
                      </m:r>
                      <m:r>
                        <m:rPr>
                          <m:sty m:val="p"/>
                        </m:rPr>
                        <m:t>)</m:t>
                      </m:r>
                      <m:sSup>
                        <m:e>
                          <m:r>
                            <m:t>s</m:t>
                          </m:r>
                        </m:e>
                        <m:sup>
                          <m:r>
                            <m:t>2</m:t>
                          </m:r>
                        </m:sup>
                      </m:sSup>
                    </m:oMath>
                  </m:oMathPara>
                </a14:m>
              </a:p>
              <a:p>
                <a:pPr lvl="0" indent="0" marL="0">
                  <a:buNone/>
                </a:pPr>
                <a14:m>
                  <m:oMathPara xmlns:m="http://schemas.openxmlformats.org/officeDocument/2006/math">
                    <m:oMathParaPr>
                      <m:jc m:val="center"/>
                    </m:oMathParaPr>
                    <m:oMath>
                      <m:r>
                        <m:rPr>
                          <m:sty m:val="p"/>
                        </m:rPr>
                        <m:t>(</m:t>
                      </m:r>
                      <m:r>
                        <m:t>M</m:t>
                      </m:r>
                      <m:r>
                        <m:rPr>
                          <m:sty m:val="p"/>
                        </m:rPr>
                        <m:t>+</m:t>
                      </m:r>
                      <m:r>
                        <m:t>m</m:t>
                      </m:r>
                      <m:r>
                        <m:rPr>
                          <m:sty m:val="p"/>
                        </m:rPr>
                        <m:t>)</m:t>
                      </m:r>
                      <m:r>
                        <m:t>X</m:t>
                      </m:r>
                      <m:r>
                        <m:rPr>
                          <m:sty m:val="p"/>
                        </m:rPr>
                        <m:t>(</m:t>
                      </m:r>
                      <m:r>
                        <m:t>s</m:t>
                      </m:r>
                      <m:r>
                        <m:rPr>
                          <m:sty m:val="p"/>
                        </m:rPr>
                        <m:t>)</m:t>
                      </m:r>
                      <m:sSup>
                        <m:e>
                          <m:r>
                            <m:t>s</m:t>
                          </m:r>
                        </m:e>
                        <m:sup>
                          <m:r>
                            <m:t>2</m:t>
                          </m:r>
                        </m:sup>
                      </m:sSup>
                      <m:r>
                        <m:rPr>
                          <m:sty m:val="p"/>
                        </m:rPr>
                        <m:t>+</m:t>
                      </m:r>
                      <m:r>
                        <m:t>b</m:t>
                      </m:r>
                      <m:r>
                        <m:t>X</m:t>
                      </m:r>
                      <m:r>
                        <m:rPr>
                          <m:sty m:val="p"/>
                        </m:rPr>
                        <m:t>(</m:t>
                      </m:r>
                      <m:r>
                        <m:t>s</m:t>
                      </m:r>
                      <m:r>
                        <m:rPr>
                          <m:sty m:val="p"/>
                        </m:rPr>
                        <m:t>)</m:t>
                      </m:r>
                      <m:r>
                        <m:t>s</m:t>
                      </m:r>
                      <m:r>
                        <m:rPr>
                          <m:sty m:val="p"/>
                        </m:rPr>
                        <m:t>−</m:t>
                      </m:r>
                      <m:r>
                        <m:t>m</m:t>
                      </m:r>
                      <m:r>
                        <m:t>l</m:t>
                      </m:r>
                      <m:r>
                        <m:rPr>
                          <m:sty m:val="p"/>
                        </m:rPr>
                        <m:t>Φ</m:t>
                      </m:r>
                      <m:r>
                        <m:rPr>
                          <m:sty m:val="p"/>
                        </m:rPr>
                        <m:t>(</m:t>
                      </m:r>
                      <m:r>
                        <m:t>s</m:t>
                      </m:r>
                      <m:r>
                        <m:rPr>
                          <m:sty m:val="p"/>
                        </m:rPr>
                        <m:t>)</m:t>
                      </m:r>
                      <m:sSup>
                        <m:e>
                          <m:r>
                            <m:t>s</m:t>
                          </m:r>
                        </m:e>
                        <m:sup>
                          <m:r>
                            <m:t>2</m:t>
                          </m:r>
                        </m:sup>
                      </m:sSup>
                      <m:r>
                        <m:rPr>
                          <m:sty m:val="p"/>
                        </m:rPr>
                        <m:t>=</m:t>
                      </m:r>
                      <m:r>
                        <m:t>U</m:t>
                      </m:r>
                      <m:r>
                        <m:rPr>
                          <m:sty m:val="p"/>
                        </m:rPr>
                        <m:t>(</m:t>
                      </m:r>
                      <m:r>
                        <m:t>s</m:t>
                      </m:r>
                      <m:r>
                        <m:rPr>
                          <m:sty m:val="p"/>
                        </m:rPr>
                        <m:t>)</m:t>
                      </m:r>
                    </m:oMath>
                  </m:oMathPara>
                </a14:m>
              </a:p>
              <a:p>
                <a:pPr lvl="0" indent="0" marL="0">
                  <a:buNone/>
                </a:pPr>
                <a:r>
                  <a:rPr/>
                  <a:t>Recall that a transfer function represents the relationship between a single input and a single output at a time. To find our first transfer function for the output </a:t>
                </a:r>
                <a14:m>
                  <m:oMath xmlns:m="http://schemas.openxmlformats.org/officeDocument/2006/math">
                    <m:r>
                      <m:rPr>
                        <m:sty m:val="p"/>
                      </m:rPr>
                      <m:t>Φ</m:t>
                    </m:r>
                    <m:r>
                      <m:rPr>
                        <m:sty m:val="p"/>
                      </m:rPr>
                      <m:t>(</m:t>
                    </m:r>
                    <m:r>
                      <m:t>s</m:t>
                    </m:r>
                    <m:r>
                      <m:rPr>
                        <m:sty m:val="p"/>
                      </m:rPr>
                      <m:t>)</m:t>
                    </m:r>
                  </m:oMath>
                </a14:m>
                <a:r>
                  <a:rPr/>
                  <a:t> and an input of </a:t>
                </a:r>
                <a14:m>
                  <m:oMath xmlns:m="http://schemas.openxmlformats.org/officeDocument/2006/math">
                    <m:r>
                      <m:t>U</m:t>
                    </m:r>
                    <m:r>
                      <m:rPr>
                        <m:sty m:val="p"/>
                      </m:rPr>
                      <m:t>(</m:t>
                    </m:r>
                    <m:r>
                      <m:t>s</m:t>
                    </m:r>
                    <m:r>
                      <m:rPr>
                        <m:sty m:val="p"/>
                      </m:rPr>
                      <m:t>)</m:t>
                    </m:r>
                  </m:oMath>
                </a14:m>
                <a:r>
                  <a:rPr/>
                  <a:t> we need to eliminate </a:t>
                </a:r>
                <a14:m>
                  <m:oMath xmlns:m="http://schemas.openxmlformats.org/officeDocument/2006/math">
                    <m:r>
                      <m:t>X</m:t>
                    </m:r>
                    <m:r>
                      <m:rPr>
                        <m:sty m:val="p"/>
                      </m:rPr>
                      <m:t>(</m:t>
                    </m:r>
                    <m:r>
                      <m:t>s</m:t>
                    </m:r>
                    <m:r>
                      <m:rPr>
                        <m:sty m:val="p"/>
                      </m:rPr>
                      <m:t>)</m:t>
                    </m:r>
                  </m:oMath>
                </a14:m>
                <a:r>
                  <a:rPr/>
                  <a:t> from the above equations. Solve the first equation for </a:t>
                </a:r>
                <a14:m>
                  <m:oMath xmlns:m="http://schemas.openxmlformats.org/officeDocument/2006/math">
                    <m:r>
                      <m:t>X</m:t>
                    </m:r>
                    <m:r>
                      <m:rPr>
                        <m:sty m:val="p"/>
                      </m:rPr>
                      <m:t>(</m:t>
                    </m:r>
                    <m:r>
                      <m:t>s</m:t>
                    </m:r>
                    <m:r>
                      <m:rPr>
                        <m:sty m:val="p"/>
                      </m:rPr>
                      <m:t>)</m:t>
                    </m:r>
                  </m:oMath>
                </a14:m>
                <a:r>
                  <a:rPr/>
                  <a:t>:</a:t>
                </a:r>
              </a:p>
              <a:p>
                <a:pPr lvl="0" indent="0" marL="0">
                  <a:buNone/>
                </a:pPr>
                <a14:m>
                  <m:oMathPara xmlns:m="http://schemas.openxmlformats.org/officeDocument/2006/math">
                    <m:oMathParaPr>
                      <m:jc m:val="center"/>
                    </m:oMathParaPr>
                    <m:oMath>
                      <m:r>
                        <m:t>X</m:t>
                      </m:r>
                      <m:r>
                        <m:rPr>
                          <m:sty m:val="p"/>
                        </m:rPr>
                        <m:t>(</m:t>
                      </m:r>
                      <m:r>
                        <m:t>s</m:t>
                      </m:r>
                      <m:r>
                        <m:rPr>
                          <m:sty m:val="p"/>
                        </m:rPr>
                        <m:t>)</m:t>
                      </m:r>
                      <m:r>
                        <m:rPr>
                          <m:sty m:val="p"/>
                        </m:rPr>
                        <m:t>=</m:t>
                      </m:r>
                      <m:d>
                        <m:dPr>
                          <m:begChr m:val="["/>
                          <m:sepChr m:val=""/>
                          <m:endChr m:val="]"/>
                          <m:grow/>
                        </m:dPr>
                        <m:e>
                          <m:f>
                            <m:fPr>
                              <m:type m:val="bar"/>
                            </m:fPr>
                            <m:num>
                              <m:r>
                                <m:t>I</m:t>
                              </m:r>
                              <m:r>
                                <m:rPr>
                                  <m:sty m:val="p"/>
                                </m:rPr>
                                <m:t>+</m:t>
                              </m:r>
                              <m:r>
                                <m:t>m</m:t>
                              </m:r>
                              <m:sSup>
                                <m:e>
                                  <m:r>
                                    <m:t>l</m:t>
                                  </m:r>
                                </m:e>
                                <m:sup>
                                  <m:r>
                                    <m:t>2</m:t>
                                  </m:r>
                                </m:sup>
                              </m:sSup>
                            </m:num>
                            <m:den>
                              <m:r>
                                <m:t>m</m:t>
                              </m:r>
                              <m:r>
                                <m:t>l</m:t>
                              </m:r>
                            </m:den>
                          </m:f>
                          <m:r>
                            <m:rPr>
                              <m:sty m:val="p"/>
                            </m:rPr>
                            <m:t>−</m:t>
                          </m:r>
                          <m:f>
                            <m:fPr>
                              <m:type m:val="bar"/>
                            </m:fPr>
                            <m:num>
                              <m:r>
                                <m:t>g</m:t>
                              </m:r>
                            </m:num>
                            <m:den>
                              <m:sSup>
                                <m:e>
                                  <m:r>
                                    <m:t>s</m:t>
                                  </m:r>
                                </m:e>
                                <m:sup>
                                  <m:r>
                                    <m:t>2</m:t>
                                  </m:r>
                                </m:sup>
                              </m:sSup>
                            </m:den>
                          </m:f>
                        </m:e>
                      </m:d>
                      <m:r>
                        <m:rPr>
                          <m:sty m:val="p"/>
                        </m:rPr>
                        <m:t>Φ</m:t>
                      </m:r>
                      <m:r>
                        <m:rPr>
                          <m:sty m:val="p"/>
                        </m:rPr>
                        <m:t>(</m:t>
                      </m:r>
                      <m:r>
                        <m:t>s</m:t>
                      </m:r>
                      <m:r>
                        <m:rPr>
                          <m:sty m:val="p"/>
                        </m:rPr>
                        <m:t>)</m:t>
                      </m:r>
                    </m:oMath>
                  </m:oMathPara>
                </a14:m>
              </a:p>
              <a:p>
                <a:pPr lvl="0" indent="0" marL="0">
                  <a:buNone/>
                </a:pPr>
                <a:r>
                  <a:rPr/>
                  <a:t>Then substitute the above into the second equation:</a:t>
                </a:r>
              </a:p>
              <a:p>
                <a:pPr lvl="0" indent="0" marL="0">
                  <a:buNone/>
                </a:pPr>
                <a14:m>
                  <m:oMathPara xmlns:m="http://schemas.openxmlformats.org/officeDocument/2006/math">
                    <m:oMathParaPr>
                      <m:jc m:val="center"/>
                    </m:oMathParaPr>
                    <m:oMath>
                      <m:r>
                        <m:rPr>
                          <m:sty m:val="p"/>
                        </m:rPr>
                        <m:t>(</m:t>
                      </m:r>
                      <m:r>
                        <m:t>M</m:t>
                      </m:r>
                      <m:r>
                        <m:rPr>
                          <m:sty m:val="p"/>
                        </m:rPr>
                        <m:t>+</m:t>
                      </m:r>
                      <m:r>
                        <m:t>m</m:t>
                      </m:r>
                      <m:r>
                        <m:rPr>
                          <m:sty m:val="p"/>
                        </m:rPr>
                        <m:t>)</m:t>
                      </m:r>
                      <m:d>
                        <m:dPr>
                          <m:begChr m:val="["/>
                          <m:sepChr m:val=""/>
                          <m:endChr m:val="]"/>
                          <m:grow/>
                        </m:dPr>
                        <m:e>
                          <m:f>
                            <m:fPr>
                              <m:type m:val="bar"/>
                            </m:fPr>
                            <m:num>
                              <m:r>
                                <m:t>I</m:t>
                              </m:r>
                              <m:r>
                                <m:rPr>
                                  <m:sty m:val="p"/>
                                </m:rPr>
                                <m:t>+</m:t>
                              </m:r>
                              <m:r>
                                <m:t>m</m:t>
                              </m:r>
                              <m:sSup>
                                <m:e>
                                  <m:r>
                                    <m:t>l</m:t>
                                  </m:r>
                                </m:e>
                                <m:sup>
                                  <m:r>
                                    <m:t>2</m:t>
                                  </m:r>
                                </m:sup>
                              </m:sSup>
                            </m:num>
                            <m:den>
                              <m:r>
                                <m:t>m</m:t>
                              </m:r>
                              <m:r>
                                <m:t>l</m:t>
                              </m:r>
                            </m:den>
                          </m:f>
                          <m:r>
                            <m:rPr>
                              <m:sty m:val="p"/>
                            </m:rPr>
                            <m:t>−</m:t>
                          </m:r>
                          <m:f>
                            <m:fPr>
                              <m:type m:val="bar"/>
                            </m:fPr>
                            <m:num>
                              <m:r>
                                <m:t>g</m:t>
                              </m:r>
                            </m:num>
                            <m:den>
                              <m:sSup>
                                <m:e>
                                  <m:r>
                                    <m:t>s</m:t>
                                  </m:r>
                                </m:e>
                                <m:sup>
                                  <m:r>
                                    <m:t>2</m:t>
                                  </m:r>
                                </m:sup>
                              </m:sSup>
                            </m:den>
                          </m:f>
                        </m:e>
                      </m:d>
                      <m:r>
                        <m:rPr>
                          <m:sty m:val="p"/>
                        </m:rPr>
                        <m:t>Φ</m:t>
                      </m:r>
                      <m:r>
                        <m:rPr>
                          <m:sty m:val="p"/>
                        </m:rPr>
                        <m:t>(</m:t>
                      </m:r>
                      <m:r>
                        <m:t>s</m:t>
                      </m:r>
                      <m:r>
                        <m:rPr>
                          <m:sty m:val="p"/>
                        </m:rPr>
                        <m:t>)</m:t>
                      </m:r>
                      <m:sSup>
                        <m:e>
                          <m:r>
                            <m:t>s</m:t>
                          </m:r>
                        </m:e>
                        <m:sup>
                          <m:r>
                            <m:t>2</m:t>
                          </m:r>
                        </m:sup>
                      </m:sSup>
                      <m:r>
                        <m:rPr>
                          <m:sty m:val="p"/>
                        </m:rPr>
                        <m:t>+</m:t>
                      </m:r>
                      <m:r>
                        <m:t>b</m:t>
                      </m:r>
                      <m:d>
                        <m:dPr>
                          <m:begChr m:val="["/>
                          <m:sepChr m:val=""/>
                          <m:endChr m:val="]"/>
                          <m:grow/>
                        </m:dPr>
                        <m:e>
                          <m:f>
                            <m:fPr>
                              <m:type m:val="bar"/>
                            </m:fPr>
                            <m:num>
                              <m:r>
                                <m:t>I</m:t>
                              </m:r>
                              <m:r>
                                <m:rPr>
                                  <m:sty m:val="p"/>
                                </m:rPr>
                                <m:t>+</m:t>
                              </m:r>
                              <m:r>
                                <m:t>m</m:t>
                              </m:r>
                              <m:sSup>
                                <m:e>
                                  <m:r>
                                    <m:t>l</m:t>
                                  </m:r>
                                </m:e>
                                <m:sup>
                                  <m:r>
                                    <m:t>2</m:t>
                                  </m:r>
                                </m:sup>
                              </m:sSup>
                            </m:num>
                            <m:den>
                              <m:r>
                                <m:t>m</m:t>
                              </m:r>
                              <m:r>
                                <m:t>l</m:t>
                              </m:r>
                            </m:den>
                          </m:f>
                          <m:r>
                            <m:rPr>
                              <m:sty m:val="p"/>
                            </m:rPr>
                            <m:t>−</m:t>
                          </m:r>
                          <m:f>
                            <m:fPr>
                              <m:type m:val="bar"/>
                            </m:fPr>
                            <m:num>
                              <m:r>
                                <m:t>g</m:t>
                              </m:r>
                            </m:num>
                            <m:den>
                              <m:sSup>
                                <m:e>
                                  <m:r>
                                    <m:t>s</m:t>
                                  </m:r>
                                </m:e>
                                <m:sup>
                                  <m:r>
                                    <m:t>2</m:t>
                                  </m:r>
                                </m:sup>
                              </m:sSup>
                            </m:den>
                          </m:f>
                        </m:e>
                      </m:d>
                      <m:r>
                        <m:rPr>
                          <m:sty m:val="p"/>
                        </m:rPr>
                        <m:t>Φ</m:t>
                      </m:r>
                      <m:r>
                        <m:rPr>
                          <m:sty m:val="p"/>
                        </m:rPr>
                        <m:t>(</m:t>
                      </m:r>
                      <m:r>
                        <m:t>s</m:t>
                      </m:r>
                      <m:r>
                        <m:rPr>
                          <m:sty m:val="p"/>
                        </m:rPr>
                        <m:t>)</m:t>
                      </m:r>
                      <m:r>
                        <m:t>s</m:t>
                      </m:r>
                      <m:r>
                        <m:rPr>
                          <m:sty m:val="p"/>
                        </m:rPr>
                        <m:t>−</m:t>
                      </m:r>
                      <m:r>
                        <m:t>m</m:t>
                      </m:r>
                      <m:r>
                        <m:t>l</m:t>
                      </m:r>
                      <m:r>
                        <m:rPr>
                          <m:sty m:val="p"/>
                        </m:rPr>
                        <m:t>Φ</m:t>
                      </m:r>
                      <m:r>
                        <m:rPr>
                          <m:sty m:val="p"/>
                        </m:rPr>
                        <m:t>(</m:t>
                      </m:r>
                      <m:r>
                        <m:t>s</m:t>
                      </m:r>
                      <m:r>
                        <m:rPr>
                          <m:sty m:val="p"/>
                        </m:rPr>
                        <m:t>)</m:t>
                      </m:r>
                      <m:sSup>
                        <m:e>
                          <m:r>
                            <m:t>s</m:t>
                          </m:r>
                        </m:e>
                        <m:sup>
                          <m:r>
                            <m:t>2</m:t>
                          </m:r>
                        </m:sup>
                      </m:sSup>
                      <m:r>
                        <m:rPr>
                          <m:sty m:val="p"/>
                        </m:rPr>
                        <m:t>=</m:t>
                      </m:r>
                      <m:r>
                        <m:t>U</m:t>
                      </m:r>
                      <m:r>
                        <m:rPr>
                          <m:sty m:val="p"/>
                        </m:rPr>
                        <m:t>(</m:t>
                      </m:r>
                      <m:r>
                        <m:t>s</m:t>
                      </m:r>
                      <m:r>
                        <m:rPr>
                          <m:sty m:val="p"/>
                        </m:rPr>
                        <m:t>)</m:t>
                      </m:r>
                    </m:oMath>
                  </m:oMathPara>
                </a14:m>
              </a:p>
              <a:p>
                <a:pPr lvl="0" indent="0" marL="0">
                  <a:buNone/>
                </a:pPr>
                <a:r>
                  <a:rPr/>
                  <a:t>Rearranging, the transfer function is then the following:</a:t>
                </a:r>
              </a:p>
              <a:p>
                <a:pPr lvl="0" indent="0" marL="0">
                  <a:buNone/>
                </a:pPr>
                <a14:m>
                  <m:oMathPara xmlns:m="http://schemas.openxmlformats.org/officeDocument/2006/math">
                    <m:oMathParaPr>
                      <m:jc m:val="center"/>
                    </m:oMathParaPr>
                    <m:oMath>
                      <m:f>
                        <m:fPr>
                          <m:type m:val="bar"/>
                        </m:fPr>
                        <m:num>
                          <m:r>
                            <m:rPr>
                              <m:sty m:val="p"/>
                            </m:rPr>
                            <m:t>Φ</m:t>
                          </m:r>
                          <m:r>
                            <m:rPr>
                              <m:sty m:val="p"/>
                            </m:rPr>
                            <m:t>(</m:t>
                          </m:r>
                          <m:r>
                            <m:t>s</m:t>
                          </m:r>
                          <m:r>
                            <m:rPr>
                              <m:sty m:val="p"/>
                            </m:rPr>
                            <m:t>)</m:t>
                          </m:r>
                        </m:num>
                        <m:den>
                          <m:r>
                            <m:t>U</m:t>
                          </m:r>
                          <m:r>
                            <m:rPr>
                              <m:sty m:val="p"/>
                            </m:rPr>
                            <m:t>(</m:t>
                          </m:r>
                          <m:r>
                            <m:t>s</m:t>
                          </m:r>
                          <m:r>
                            <m:rPr>
                              <m:sty m:val="p"/>
                            </m:rPr>
                            <m:t>)</m:t>
                          </m:r>
                        </m:den>
                      </m:f>
                      <m:r>
                        <m:rPr>
                          <m:sty m:val="p"/>
                        </m:rPr>
                        <m:t>=</m:t>
                      </m:r>
                      <m:f>
                        <m:fPr>
                          <m:type m:val="bar"/>
                        </m:fPr>
                        <m:num>
                          <m:f>
                            <m:fPr>
                              <m:type m:val="bar"/>
                            </m:fPr>
                            <m:num>
                              <m:r>
                                <m:t>m</m:t>
                              </m:r>
                              <m:r>
                                <m:t>l</m:t>
                              </m:r>
                            </m:num>
                            <m:den>
                              <m:r>
                                <m:t>q</m:t>
                              </m:r>
                            </m:den>
                          </m:f>
                          <m:sSup>
                            <m:e>
                              <m:r>
                                <m:t>s</m:t>
                              </m:r>
                            </m:e>
                            <m:sup>
                              <m:r>
                                <m:t>2</m:t>
                              </m:r>
                            </m:sup>
                          </m:sSup>
                        </m:num>
                        <m:den>
                          <m:sSup>
                            <m:e>
                              <m:r>
                                <m:t>s</m:t>
                              </m:r>
                            </m:e>
                            <m:sup>
                              <m:r>
                                <m:t>4</m:t>
                              </m:r>
                            </m:sup>
                          </m:sSup>
                          <m:r>
                            <m:rPr>
                              <m:sty m:val="p"/>
                            </m:rPr>
                            <m:t>+</m:t>
                          </m:r>
                          <m:f>
                            <m:fPr>
                              <m:type m:val="bar"/>
                            </m:fPr>
                            <m:num>
                              <m:r>
                                <m:t>b</m:t>
                              </m:r>
                              <m:r>
                                <m:rPr>
                                  <m:sty m:val="p"/>
                                </m:rPr>
                                <m:t>(</m:t>
                              </m:r>
                              <m:r>
                                <m:t>I</m:t>
                              </m:r>
                              <m:r>
                                <m:rPr>
                                  <m:sty m:val="p"/>
                                </m:rPr>
                                <m:t>+</m:t>
                              </m:r>
                              <m:r>
                                <m:t>m</m:t>
                              </m:r>
                              <m:sSup>
                                <m:e>
                                  <m:r>
                                    <m:t>l</m:t>
                                  </m:r>
                                </m:e>
                                <m:sup>
                                  <m:r>
                                    <m:t>2</m:t>
                                  </m:r>
                                </m:sup>
                              </m:sSup>
                              <m:r>
                                <m:rPr>
                                  <m:sty m:val="p"/>
                                </m:rPr>
                                <m:t>)</m:t>
                              </m:r>
                            </m:num>
                            <m:den>
                              <m:r>
                                <m:t>q</m:t>
                              </m:r>
                            </m:den>
                          </m:f>
                          <m:sSup>
                            <m:e>
                              <m:r>
                                <m:t>s</m:t>
                              </m:r>
                            </m:e>
                            <m:sup>
                              <m:r>
                                <m:t>3</m:t>
                              </m:r>
                            </m:sup>
                          </m:sSup>
                          <m:r>
                            <m:rPr>
                              <m:sty m:val="p"/>
                            </m:rPr>
                            <m:t>−</m:t>
                          </m:r>
                          <m:f>
                            <m:fPr>
                              <m:type m:val="bar"/>
                            </m:fPr>
                            <m:num>
                              <m:r>
                                <m:rPr>
                                  <m:sty m:val="p"/>
                                </m:rPr>
                                <m:t>(</m:t>
                              </m:r>
                              <m:r>
                                <m:t>M</m:t>
                              </m:r>
                              <m:r>
                                <m:rPr>
                                  <m:sty m:val="p"/>
                                </m:rPr>
                                <m:t>+</m:t>
                              </m:r>
                              <m:r>
                                <m:t>m</m:t>
                              </m:r>
                              <m:r>
                                <m:rPr>
                                  <m:sty m:val="p"/>
                                </m:rPr>
                                <m:t>)</m:t>
                              </m:r>
                              <m:r>
                                <m:t>m</m:t>
                              </m:r>
                              <m:r>
                                <m:t>g</m:t>
                              </m:r>
                              <m:r>
                                <m:t>l</m:t>
                              </m:r>
                            </m:num>
                            <m:den>
                              <m:r>
                                <m:t>q</m:t>
                              </m:r>
                            </m:den>
                          </m:f>
                          <m:sSup>
                            <m:e>
                              <m:r>
                                <m:t>s</m:t>
                              </m:r>
                            </m:e>
                            <m:sup>
                              <m:r>
                                <m:t>2</m:t>
                              </m:r>
                            </m:sup>
                          </m:sSup>
                          <m:r>
                            <m:rPr>
                              <m:sty m:val="p"/>
                            </m:rPr>
                            <m:t>−</m:t>
                          </m:r>
                          <m:f>
                            <m:fPr>
                              <m:type m:val="bar"/>
                            </m:fPr>
                            <m:num>
                              <m:r>
                                <m:t>b</m:t>
                              </m:r>
                              <m:r>
                                <m:t>m</m:t>
                              </m:r>
                              <m:r>
                                <m:t>g</m:t>
                              </m:r>
                              <m:r>
                                <m:t>l</m:t>
                              </m:r>
                            </m:num>
                            <m:den>
                              <m:r>
                                <m:t>q</m:t>
                              </m:r>
                            </m:den>
                          </m:f>
                          <m:r>
                            <m:t>s</m:t>
                          </m:r>
                        </m:den>
                      </m:f>
                    </m:oMath>
                  </m:oMathPara>
                </a14:m>
              </a:p>
              <a:p>
                <a:pPr lvl="0" indent="0" marL="0">
                  <a:buNone/>
                </a:pPr>
                <a:r>
                  <a:rPr/>
                  <a:t>where,</a:t>
                </a:r>
              </a:p>
              <a:p>
                <a:pPr lvl="0" indent="0" marL="0">
                  <a:buNone/>
                </a:pPr>
                <a14:m>
                  <m:oMathPara xmlns:m="http://schemas.openxmlformats.org/officeDocument/2006/math">
                    <m:oMathParaPr>
                      <m:jc m:val="center"/>
                    </m:oMathParaPr>
                    <m:oMath>
                      <m:r>
                        <m:t>q</m:t>
                      </m:r>
                      <m:r>
                        <m:rPr>
                          <m:sty m:val="p"/>
                        </m:rPr>
                        <m:t>=</m:t>
                      </m:r>
                      <m:d>
                        <m:dPr>
                          <m:begChr m:val="["/>
                          <m:sepChr m:val=""/>
                          <m:endChr m:val="]"/>
                          <m:grow/>
                        </m:dPr>
                        <m:e>
                          <m:r>
                            <m:rPr>
                              <m:sty m:val="p"/>
                            </m:rPr>
                            <m:t>(</m:t>
                          </m:r>
                          <m:r>
                            <m:t>M</m:t>
                          </m:r>
                          <m:r>
                            <m:rPr>
                              <m:sty m:val="p"/>
                            </m:rPr>
                            <m:t>+</m:t>
                          </m:r>
                          <m:r>
                            <m:t>m</m:t>
                          </m:r>
                          <m:r>
                            <m:rPr>
                              <m:sty m:val="p"/>
                            </m:rPr>
                            <m:t>)</m:t>
                          </m:r>
                          <m:r>
                            <m:rPr>
                              <m:sty m:val="p"/>
                            </m:rPr>
                            <m:t>(</m:t>
                          </m:r>
                          <m:r>
                            <m:t>I</m:t>
                          </m:r>
                          <m:r>
                            <m:rPr>
                              <m:sty m:val="p"/>
                            </m:rPr>
                            <m:t>+</m:t>
                          </m:r>
                          <m:r>
                            <m:t>m</m:t>
                          </m:r>
                          <m:sSup>
                            <m:e>
                              <m:r>
                                <m:t>l</m:t>
                              </m:r>
                            </m:e>
                            <m:sup>
                              <m:r>
                                <m:t>2</m:t>
                              </m:r>
                            </m:sup>
                          </m:sSup>
                          <m:r>
                            <m:rPr>
                              <m:sty m:val="p"/>
                            </m:rPr>
                            <m:t>)</m:t>
                          </m:r>
                          <m:r>
                            <m:rPr>
                              <m:sty m:val="p"/>
                            </m:rPr>
                            <m:t>−</m:t>
                          </m:r>
                          <m:r>
                            <m:rPr>
                              <m:sty m:val="p"/>
                            </m:rPr>
                            <m:t>(</m:t>
                          </m:r>
                          <m:r>
                            <m:t>m</m:t>
                          </m:r>
                          <m:r>
                            <m:t>l</m:t>
                          </m:r>
                          <m:sSup>
                            <m:e>
                              <m:r>
                                <m:rPr>
                                  <m:sty m:val="p"/>
                                </m:rPr>
                                <m:t>)</m:t>
                              </m:r>
                            </m:e>
                            <m:sup>
                              <m:r>
                                <m:t>2</m:t>
                              </m:r>
                            </m:sup>
                          </m:sSup>
                        </m:e>
                      </m:d>
                    </m:oMath>
                  </m:oMathPara>
                </a14:m>
              </a:p>
              <a:p>
                <a:pPr lvl="0" indent="0" marL="0">
                  <a:buNone/>
                </a:pPr>
                <a:r>
                  <a:rPr/>
                  <a:t>From the transfer function above it can be seen that there is both a pole and a zero at the origin. These can be canceled and the transfer function becomes the following:</a:t>
                </a:r>
              </a:p>
              <a:p>
                <a:pPr lvl="0" indent="0" marL="0">
                  <a:buNone/>
                </a:pPr>
                <a14:m>
                  <m:oMathPara xmlns:m="http://schemas.openxmlformats.org/officeDocument/2006/math">
                    <m:oMathParaPr>
                      <m:jc m:val="center"/>
                    </m:oMathParaPr>
                    <m:oMath>
                      <m:sSub>
                        <m:e>
                          <m:r>
                            <m:t>P</m:t>
                          </m:r>
                        </m:e>
                        <m:sub>
                          <m:r>
                            <m:t>p</m:t>
                          </m:r>
                          <m:r>
                            <m:t>e</m:t>
                          </m:r>
                          <m:r>
                            <m:t>n</m:t>
                          </m:r>
                          <m:r>
                            <m:t>d</m:t>
                          </m:r>
                        </m:sub>
                      </m:sSub>
                      <m:r>
                        <m:rPr>
                          <m:sty m:val="p"/>
                        </m:rPr>
                        <m:t>(</m:t>
                      </m:r>
                      <m:r>
                        <m:t>s</m:t>
                      </m:r>
                      <m:r>
                        <m:rPr>
                          <m:sty m:val="p"/>
                        </m:rPr>
                        <m:t>)</m:t>
                      </m:r>
                      <m:r>
                        <m:rPr>
                          <m:sty m:val="p"/>
                        </m:rPr>
                        <m:t>=</m:t>
                      </m:r>
                      <m:f>
                        <m:fPr>
                          <m:type m:val="bar"/>
                        </m:fPr>
                        <m:num>
                          <m:r>
                            <m:rPr>
                              <m:sty m:val="p"/>
                            </m:rPr>
                            <m:t>Φ</m:t>
                          </m:r>
                          <m:r>
                            <m:rPr>
                              <m:sty m:val="p"/>
                            </m:rPr>
                            <m:t>(</m:t>
                          </m:r>
                          <m:r>
                            <m:t>s</m:t>
                          </m:r>
                          <m:r>
                            <m:rPr>
                              <m:sty m:val="p"/>
                            </m:rPr>
                            <m:t>)</m:t>
                          </m:r>
                        </m:num>
                        <m:den>
                          <m:r>
                            <m:t>U</m:t>
                          </m:r>
                          <m:r>
                            <m:rPr>
                              <m:sty m:val="p"/>
                            </m:rPr>
                            <m:t>(</m:t>
                          </m:r>
                          <m:r>
                            <m:t>s</m:t>
                          </m:r>
                          <m:r>
                            <m:rPr>
                              <m:sty m:val="p"/>
                            </m:rPr>
                            <m:t>)</m:t>
                          </m:r>
                        </m:den>
                      </m:f>
                      <m:r>
                        <m:rPr>
                          <m:sty m:val="p"/>
                        </m:rPr>
                        <m:t>=</m:t>
                      </m:r>
                      <m:f>
                        <m:fPr>
                          <m:type m:val="bar"/>
                        </m:fPr>
                        <m:num>
                          <m:f>
                            <m:fPr>
                              <m:type m:val="bar"/>
                            </m:fPr>
                            <m:num>
                              <m:r>
                                <m:t>m</m:t>
                              </m:r>
                              <m:r>
                                <m:t>l</m:t>
                              </m:r>
                            </m:num>
                            <m:den>
                              <m:r>
                                <m:t>q</m:t>
                              </m:r>
                            </m:den>
                          </m:f>
                          <m:r>
                            <m:t>s</m:t>
                          </m:r>
                        </m:num>
                        <m:den>
                          <m:sSup>
                            <m:e>
                              <m:r>
                                <m:t>s</m:t>
                              </m:r>
                            </m:e>
                            <m:sup>
                              <m:r>
                                <m:t>3</m:t>
                              </m:r>
                            </m:sup>
                          </m:sSup>
                          <m:r>
                            <m:rPr>
                              <m:sty m:val="p"/>
                            </m:rPr>
                            <m:t>+</m:t>
                          </m:r>
                          <m:f>
                            <m:fPr>
                              <m:type m:val="bar"/>
                            </m:fPr>
                            <m:num>
                              <m:r>
                                <m:t>b</m:t>
                              </m:r>
                              <m:r>
                                <m:rPr>
                                  <m:sty m:val="p"/>
                                </m:rPr>
                                <m:t>(</m:t>
                              </m:r>
                              <m:r>
                                <m:t>I</m:t>
                              </m:r>
                              <m:r>
                                <m:rPr>
                                  <m:sty m:val="p"/>
                                </m:rPr>
                                <m:t>+</m:t>
                              </m:r>
                              <m:r>
                                <m:t>m</m:t>
                              </m:r>
                              <m:sSup>
                                <m:e>
                                  <m:r>
                                    <m:t>l</m:t>
                                  </m:r>
                                </m:e>
                                <m:sup>
                                  <m:r>
                                    <m:t>2</m:t>
                                  </m:r>
                                </m:sup>
                              </m:sSup>
                              <m:r>
                                <m:rPr>
                                  <m:sty m:val="p"/>
                                </m:rPr>
                                <m:t>)</m:t>
                              </m:r>
                            </m:num>
                            <m:den>
                              <m:r>
                                <m:t>q</m:t>
                              </m:r>
                            </m:den>
                          </m:f>
                          <m:sSup>
                            <m:e>
                              <m:r>
                                <m:t>s</m:t>
                              </m:r>
                            </m:e>
                            <m:sup>
                              <m:r>
                                <m:t>2</m:t>
                              </m:r>
                            </m:sup>
                          </m:sSup>
                          <m:r>
                            <m:rPr>
                              <m:sty m:val="p"/>
                            </m:rPr>
                            <m:t>−</m:t>
                          </m:r>
                          <m:f>
                            <m:fPr>
                              <m:type m:val="bar"/>
                            </m:fPr>
                            <m:num>
                              <m:r>
                                <m:rPr>
                                  <m:sty m:val="p"/>
                                </m:rPr>
                                <m:t>(</m:t>
                              </m:r>
                              <m:r>
                                <m:t>M</m:t>
                              </m:r>
                              <m:r>
                                <m:rPr>
                                  <m:sty m:val="p"/>
                                </m:rPr>
                                <m:t>+</m:t>
                              </m:r>
                              <m:r>
                                <m:t>m</m:t>
                              </m:r>
                              <m:r>
                                <m:rPr>
                                  <m:sty m:val="p"/>
                                </m:rPr>
                                <m:t>)</m:t>
                              </m:r>
                              <m:r>
                                <m:t>m</m:t>
                              </m:r>
                              <m:r>
                                <m:t>g</m:t>
                              </m:r>
                              <m:r>
                                <m:t>l</m:t>
                              </m:r>
                            </m:num>
                            <m:den>
                              <m:r>
                                <m:t>q</m:t>
                              </m:r>
                            </m:den>
                          </m:f>
                          <m:r>
                            <m:t>s</m:t>
                          </m:r>
                          <m:r>
                            <m:rPr>
                              <m:sty m:val="p"/>
                            </m:rPr>
                            <m:t>−</m:t>
                          </m:r>
                          <m:f>
                            <m:fPr>
                              <m:type m:val="bar"/>
                            </m:fPr>
                            <m:num>
                              <m:r>
                                <m:t>b</m:t>
                              </m:r>
                              <m:r>
                                <m:t>m</m:t>
                              </m:r>
                              <m:r>
                                <m:t>g</m:t>
                              </m:r>
                              <m:r>
                                <m:t>l</m:t>
                              </m:r>
                            </m:num>
                            <m:den>
                              <m:r>
                                <m:t>q</m:t>
                              </m:r>
                            </m:den>
                          </m:f>
                        </m:den>
                      </m:f>
                      <m:r>
                        <m:t> </m:t>
                      </m:r>
                      <m:r>
                        <m:t> </m:t>
                      </m:r>
                      <m:d>
                        <m:dPr>
                          <m:begChr m:val="["/>
                          <m:sepChr m:val=""/>
                          <m:endChr m:val="]"/>
                          <m:grow/>
                        </m:dPr>
                        <m:e>
                          <m:f>
                            <m:fPr>
                              <m:type m:val="bar"/>
                            </m:fPr>
                            <m:num>
                              <m:r>
                                <m:rPr>
                                  <m:nor/>
                                  <m:sty m:val="p"/>
                                </m:rPr>
                                <m:t>rad</m:t>
                              </m:r>
                            </m:num>
                            <m:den>
                              <m:r>
                                <m:rPr>
                                  <m:nor/>
                                  <m:sty m:val="p"/>
                                </m:rPr>
                                <m:t>N</m:t>
                              </m:r>
                            </m:den>
                          </m:f>
                        </m:e>
                      </m:d>
                    </m:oMath>
                  </m:oMathPara>
                </a14:m>
              </a:p>
              <a:p>
                <a:pPr lvl="0" indent="0" marL="0">
                  <a:buNone/>
                </a:pPr>
                <a:r>
                  <a:rPr/>
                  <a:t>Second, the transfer function with the cart position </a:t>
                </a:r>
                <a14:m>
                  <m:oMath xmlns:m="http://schemas.openxmlformats.org/officeDocument/2006/math">
                    <m:r>
                      <m:t>X</m:t>
                    </m:r>
                    <m:r>
                      <m:rPr>
                        <m:sty m:val="p"/>
                      </m:rPr>
                      <m:t>(</m:t>
                    </m:r>
                    <m:r>
                      <m:t>s</m:t>
                    </m:r>
                    <m:r>
                      <m:rPr>
                        <m:sty m:val="p"/>
                      </m:rPr>
                      <m:t>)</m:t>
                    </m:r>
                  </m:oMath>
                </a14:m>
                <a:r>
                  <a:rPr/>
                  <a:t> as the output can be derived in a similar manner to arrive at the following:</a:t>
                </a:r>
              </a:p>
              <a:p>
                <a:pPr lvl="0" indent="0" marL="0">
                  <a:buNone/>
                </a:pPr>
                <a14:m>
                  <m:oMathPara xmlns:m="http://schemas.openxmlformats.org/officeDocument/2006/math">
                    <m:oMathParaPr>
                      <m:jc m:val="center"/>
                    </m:oMathParaPr>
                    <m:oMath>
                      <m:sSub>
                        <m:e>
                          <m:r>
                            <m:t>P</m:t>
                          </m:r>
                        </m:e>
                        <m:sub>
                          <m:r>
                            <m:t>c</m:t>
                          </m:r>
                          <m:r>
                            <m:t>a</m:t>
                          </m:r>
                          <m:r>
                            <m:t>r</m:t>
                          </m:r>
                          <m:r>
                            <m:t>t</m:t>
                          </m:r>
                        </m:sub>
                      </m:sSub>
                      <m:r>
                        <m:rPr>
                          <m:sty m:val="p"/>
                        </m:rPr>
                        <m:t>(</m:t>
                      </m:r>
                      <m:r>
                        <m:t>s</m:t>
                      </m:r>
                      <m:r>
                        <m:rPr>
                          <m:sty m:val="p"/>
                        </m:rPr>
                        <m:t>)</m:t>
                      </m:r>
                      <m:r>
                        <m:rPr>
                          <m:sty m:val="p"/>
                        </m:rPr>
                        <m:t>=</m:t>
                      </m:r>
                      <m:f>
                        <m:fPr>
                          <m:type m:val="bar"/>
                        </m:fPr>
                        <m:num>
                          <m:r>
                            <m:t>X</m:t>
                          </m:r>
                          <m:r>
                            <m:rPr>
                              <m:sty m:val="p"/>
                            </m:rPr>
                            <m:t>(</m:t>
                          </m:r>
                          <m:r>
                            <m:t>s</m:t>
                          </m:r>
                          <m:r>
                            <m:rPr>
                              <m:sty m:val="p"/>
                            </m:rPr>
                            <m:t>)</m:t>
                          </m:r>
                        </m:num>
                        <m:den>
                          <m:r>
                            <m:t>U</m:t>
                          </m:r>
                          <m:r>
                            <m:rPr>
                              <m:sty m:val="p"/>
                            </m:rPr>
                            <m:t>(</m:t>
                          </m:r>
                          <m:r>
                            <m:t>s</m:t>
                          </m:r>
                          <m:r>
                            <m:rPr>
                              <m:sty m:val="p"/>
                            </m:rPr>
                            <m:t>)</m:t>
                          </m:r>
                        </m:den>
                      </m:f>
                      <m:r>
                        <m:rPr>
                          <m:sty m:val="p"/>
                        </m:rPr>
                        <m:t>=</m:t>
                      </m:r>
                      <m:f>
                        <m:fPr>
                          <m:type m:val="bar"/>
                        </m:fPr>
                        <m:num>
                          <m:f>
                            <m:fPr>
                              <m:type m:val="bar"/>
                            </m:fPr>
                            <m:num>
                              <m:r>
                                <m:rPr>
                                  <m:sty m:val="p"/>
                                </m:rPr>
                                <m:t>(</m:t>
                              </m:r>
                              <m:r>
                                <m:t>I</m:t>
                              </m:r>
                              <m:r>
                                <m:rPr>
                                  <m:sty m:val="p"/>
                                </m:rPr>
                                <m:t>+</m:t>
                              </m:r>
                              <m:r>
                                <m:t>m</m:t>
                              </m:r>
                              <m:sSup>
                                <m:e>
                                  <m:r>
                                    <m:t>l</m:t>
                                  </m:r>
                                </m:e>
                                <m:sup>
                                  <m:r>
                                    <m:t>2</m:t>
                                  </m:r>
                                </m:sup>
                              </m:sSup>
                              <m:r>
                                <m:rPr>
                                  <m:sty m:val="p"/>
                                </m:rPr>
                                <m:t>)</m:t>
                              </m:r>
                              <m:sSup>
                                <m:e>
                                  <m:r>
                                    <m:t>s</m:t>
                                  </m:r>
                                </m:e>
                                <m:sup>
                                  <m:r>
                                    <m:t>2</m:t>
                                  </m:r>
                                </m:sup>
                              </m:sSup>
                              <m:r>
                                <m:rPr>
                                  <m:sty m:val="p"/>
                                </m:rPr>
                                <m:t>−</m:t>
                              </m:r>
                              <m:r>
                                <m:t>g</m:t>
                              </m:r>
                              <m:r>
                                <m:t>m</m:t>
                              </m:r>
                              <m:r>
                                <m:t>l</m:t>
                              </m:r>
                            </m:num>
                            <m:den>
                              <m:r>
                                <m:t>q</m:t>
                              </m:r>
                            </m:den>
                          </m:f>
                        </m:num>
                        <m:den>
                          <m:sSup>
                            <m:e>
                              <m:r>
                                <m:t>s</m:t>
                              </m:r>
                            </m:e>
                            <m:sup>
                              <m:r>
                                <m:t>4</m:t>
                              </m:r>
                            </m:sup>
                          </m:sSup>
                          <m:r>
                            <m:rPr>
                              <m:sty m:val="p"/>
                            </m:rPr>
                            <m:t>+</m:t>
                          </m:r>
                          <m:f>
                            <m:fPr>
                              <m:type m:val="bar"/>
                            </m:fPr>
                            <m:num>
                              <m:r>
                                <m:t>b</m:t>
                              </m:r>
                              <m:r>
                                <m:rPr>
                                  <m:sty m:val="p"/>
                                </m:rPr>
                                <m:t>(</m:t>
                              </m:r>
                              <m:r>
                                <m:t>I</m:t>
                              </m:r>
                              <m:r>
                                <m:rPr>
                                  <m:sty m:val="p"/>
                                </m:rPr>
                                <m:t>+</m:t>
                              </m:r>
                              <m:r>
                                <m:t>m</m:t>
                              </m:r>
                              <m:sSup>
                                <m:e>
                                  <m:r>
                                    <m:t>l</m:t>
                                  </m:r>
                                </m:e>
                                <m:sup>
                                  <m:r>
                                    <m:t>2</m:t>
                                  </m:r>
                                </m:sup>
                              </m:sSup>
                              <m:r>
                                <m:rPr>
                                  <m:sty m:val="p"/>
                                </m:rPr>
                                <m:t>)</m:t>
                              </m:r>
                            </m:num>
                            <m:den>
                              <m:r>
                                <m:t>q</m:t>
                              </m:r>
                            </m:den>
                          </m:f>
                          <m:sSup>
                            <m:e>
                              <m:r>
                                <m:t>s</m:t>
                              </m:r>
                            </m:e>
                            <m:sup>
                              <m:r>
                                <m:t>3</m:t>
                              </m:r>
                            </m:sup>
                          </m:sSup>
                          <m:r>
                            <m:rPr>
                              <m:sty m:val="p"/>
                            </m:rPr>
                            <m:t>−</m:t>
                          </m:r>
                          <m:f>
                            <m:fPr>
                              <m:type m:val="bar"/>
                            </m:fPr>
                            <m:num>
                              <m:r>
                                <m:rPr>
                                  <m:sty m:val="p"/>
                                </m:rPr>
                                <m:t>(</m:t>
                              </m:r>
                              <m:r>
                                <m:t>M</m:t>
                              </m:r>
                              <m:r>
                                <m:rPr>
                                  <m:sty m:val="p"/>
                                </m:rPr>
                                <m:t>+</m:t>
                              </m:r>
                              <m:r>
                                <m:t>m</m:t>
                              </m:r>
                              <m:r>
                                <m:rPr>
                                  <m:sty m:val="p"/>
                                </m:rPr>
                                <m:t>)</m:t>
                              </m:r>
                              <m:r>
                                <m:t>m</m:t>
                              </m:r>
                              <m:r>
                                <m:t>g</m:t>
                              </m:r>
                              <m:r>
                                <m:t>l</m:t>
                              </m:r>
                            </m:num>
                            <m:den>
                              <m:r>
                                <m:t>q</m:t>
                              </m:r>
                            </m:den>
                          </m:f>
                          <m:sSup>
                            <m:e>
                              <m:r>
                                <m:t>s</m:t>
                              </m:r>
                            </m:e>
                            <m:sup>
                              <m:r>
                                <m:t>2</m:t>
                              </m:r>
                            </m:sup>
                          </m:sSup>
                          <m:r>
                            <m:rPr>
                              <m:sty m:val="p"/>
                            </m:rPr>
                            <m:t>−</m:t>
                          </m:r>
                          <m:f>
                            <m:fPr>
                              <m:type m:val="bar"/>
                            </m:fPr>
                            <m:num>
                              <m:r>
                                <m:t>b</m:t>
                              </m:r>
                              <m:r>
                                <m:t>m</m:t>
                              </m:r>
                              <m:r>
                                <m:t>g</m:t>
                              </m:r>
                              <m:r>
                                <m:t>l</m:t>
                              </m:r>
                            </m:num>
                            <m:den>
                              <m:r>
                                <m:t>q</m:t>
                              </m:r>
                            </m:den>
                          </m:f>
                          <m:r>
                            <m:t>s</m:t>
                          </m:r>
                        </m:den>
                      </m:f>
                      <m:r>
                        <m:t> </m:t>
                      </m:r>
                      <m:r>
                        <m:t> </m:t>
                      </m:r>
                      <m:d>
                        <m:dPr>
                          <m:begChr m:val="["/>
                          <m:sepChr m:val=""/>
                          <m:endChr m:val="]"/>
                          <m:grow/>
                        </m:dPr>
                        <m:e>
                          <m:f>
                            <m:fPr>
                              <m:type m:val="bar"/>
                            </m:fPr>
                            <m:num>
                              <m:r>
                                <m:rPr>
                                  <m:nor/>
                                  <m:sty m:val="p"/>
                                </m:rPr>
                                <m:t>m</m:t>
                              </m:r>
                            </m:num>
                            <m:den>
                              <m:r>
                                <m:rPr>
                                  <m:nor/>
                                  <m:sty m:val="p"/>
                                </m:rPr>
                                <m:t>N</m:t>
                              </m:r>
                            </m:den>
                          </m:f>
                        </m:e>
                      </m:d>
                    </m:oMath>
                  </m:oMathPara>
                </a14:m>
              </a:p>
              <a:p>
                <a:pPr lvl="0" indent="0" marL="0">
                  <a:spcBef>
                    <a:spcPts val="3000"/>
                  </a:spcBef>
                  <a:buNone/>
                </a:pPr>
                <a:r>
                  <a:rPr b="1"/>
                  <a:t>State-Space Representation</a:t>
                </a:r>
              </a:p>
              <a:p>
                <a:pPr lvl="0" indent="0" marL="0">
                  <a:buNone/>
                </a:pPr>
                <a:r>
                  <a:rPr/>
                  <a:t>The linearized equations of motion from above can also be represented in state-space form .</a:t>
                </a:r>
              </a:p>
              <a:p>
                <a:pPr lvl="0" indent="0" marL="0">
                  <a:buNone/>
                </a:pPr>
                <a14:m>
                  <m:oMathPara xmlns:m="http://schemas.openxmlformats.org/officeDocument/2006/math">
                    <m:oMathParaPr>
                      <m:jc m:val="center"/>
                    </m:oMathParaPr>
                    <m:oMath>
                      <m:d>
                        <m:dPr>
                          <m:begChr m:val="["/>
                          <m:sepChr m:val=""/>
                          <m:endChr m:val="]"/>
                          <m:grow/>
                        </m:dPr>
                        <m:e>
                          <m:m>
                            <m:mPr>
                              <m:baseJc m:val="center"/>
                              <m:plcHide m:val="on"/>
                              <m:mcs>
                                <m:mc>
                                  <m:mcPr>
                                    <m:mcJc m:val="center"/>
                                    <m:count m:val="1"/>
                                  </m:mcPr>
                                </m:mc>
                              </m:mcs>
                            </m:mPr>
                            <m:mr>
                              <m:e>
                                <m:acc>
                                  <m:accPr>
                                    <m:chr m:val="̇"/>
                                  </m:accPr>
                                  <m:e>
                                    <m:r>
                                      <m:t>x</m:t>
                                    </m:r>
                                  </m:e>
                                </m:acc>
                              </m:e>
                            </m:mr>
                            <m:mr>
                              <m:e>
                                <m:acc>
                                  <m:accPr>
                                    <m:chr m:val="̈"/>
                                  </m:accPr>
                                  <m:e>
                                    <m:r>
                                      <m:t>x</m:t>
                                    </m:r>
                                  </m:e>
                                </m:acc>
                              </m:e>
                            </m:mr>
                            <m:mr>
                              <m:e>
                                <m:acc>
                                  <m:accPr>
                                    <m:chr m:val="̇"/>
                                  </m:accPr>
                                  <m:e>
                                    <m:r>
                                      <m:t>ϕ</m:t>
                                    </m:r>
                                  </m:e>
                                </m:acc>
                              </m:e>
                            </m:mr>
                            <m:mr>
                              <m:e>
                                <m:acc>
                                  <m:accPr>
                                    <m:chr m:val="̈"/>
                                  </m:accPr>
                                  <m:e>
                                    <m:r>
                                      <m:t>ϕ</m:t>
                                    </m:r>
                                  </m:e>
                                </m:acc>
                              </m:e>
                            </m:mr>
                          </m:m>
                        </m:e>
                      </m:d>
                      <m:r>
                        <m:rPr>
                          <m:sty m:val="p"/>
                        </m:rPr>
                        <m:t>=</m:t>
                      </m:r>
                      <m:d>
                        <m:dPr>
                          <m:begChr m:val="["/>
                          <m:sepChr m:val=""/>
                          <m:endChr m:val="]"/>
                          <m:grow/>
                        </m:dPr>
                        <m:e>
                          <m:m>
                            <m:mPr>
                              <m:baseJc m:val="center"/>
                              <m:plcHide m:val="on"/>
                              <m:mcs>
                                <m:mc>
                                  <m:mcPr>
                                    <m:mcJc m:val="center"/>
                                    <m:count m:val="1"/>
                                  </m:mcPr>
                                </m:mc>
                                <m:mc>
                                  <m:mcPr>
                                    <m:mcJc m:val="center"/>
                                    <m:count m:val="1"/>
                                  </m:mcPr>
                                </m:mc>
                                <m:mc>
                                  <m:mcPr>
                                    <m:mcJc m:val="center"/>
                                    <m:count m:val="1"/>
                                  </m:mcPr>
                                </m:mc>
                                <m:mc>
                                  <m:mcPr>
                                    <m:mcJc m:val="center"/>
                                    <m:count m:val="1"/>
                                  </m:mcPr>
                                </m:mc>
                              </m:mcs>
                            </m:mPr>
                            <m:mr>
                              <m:e>
                                <m:r>
                                  <m:t>0</m:t>
                                </m:r>
                              </m:e>
                              <m:e>
                                <m:r>
                                  <m:t>1</m:t>
                                </m:r>
                              </m:e>
                              <m:e>
                                <m:r>
                                  <m:t>0</m:t>
                                </m:r>
                              </m:e>
                              <m:e>
                                <m:r>
                                  <m:t>0</m:t>
                                </m:r>
                              </m:e>
                            </m:mr>
                            <m:mr>
                              <m:e>
                                <m:r>
                                  <m:t>0</m:t>
                                </m:r>
                              </m:e>
                              <m:e>
                                <m:f>
                                  <m:fPr>
                                    <m:type m:val="bar"/>
                                  </m:fPr>
                                  <m:num>
                                    <m:r>
                                      <m:rPr>
                                        <m:sty m:val="p"/>
                                      </m:rPr>
                                      <m:t>−</m:t>
                                    </m:r>
                                    <m:r>
                                      <m:rPr>
                                        <m:sty m:val="p"/>
                                      </m:rPr>
                                      <m:t>(</m:t>
                                    </m:r>
                                    <m:r>
                                      <m:t>I</m:t>
                                    </m:r>
                                    <m:r>
                                      <m:rPr>
                                        <m:sty m:val="p"/>
                                      </m:rPr>
                                      <m:t>+</m:t>
                                    </m:r>
                                    <m:r>
                                      <m:t>m</m:t>
                                    </m:r>
                                    <m:sSup>
                                      <m:e>
                                        <m:r>
                                          <m:t>l</m:t>
                                        </m:r>
                                      </m:e>
                                      <m:sup>
                                        <m:r>
                                          <m:t>2</m:t>
                                        </m:r>
                                      </m:sup>
                                    </m:sSup>
                                    <m:r>
                                      <m:rPr>
                                        <m:sty m:val="p"/>
                                      </m:rPr>
                                      <m:t>)</m:t>
                                    </m:r>
                                    <m:r>
                                      <m:t>b</m:t>
                                    </m:r>
                                  </m:num>
                                  <m:den>
                                    <m:r>
                                      <m:t>I</m:t>
                                    </m:r>
                                    <m:r>
                                      <m:rPr>
                                        <m:sty m:val="p"/>
                                      </m:rPr>
                                      <m:t>(</m:t>
                                    </m:r>
                                    <m:r>
                                      <m:t>M</m:t>
                                    </m:r>
                                    <m:r>
                                      <m:rPr>
                                        <m:sty m:val="p"/>
                                      </m:rPr>
                                      <m:t>+</m:t>
                                    </m:r>
                                    <m:r>
                                      <m:t>m</m:t>
                                    </m:r>
                                    <m:r>
                                      <m:rPr>
                                        <m:sty m:val="p"/>
                                      </m:rPr>
                                      <m:t>)</m:t>
                                    </m:r>
                                    <m:r>
                                      <m:rPr>
                                        <m:sty m:val="p"/>
                                      </m:rPr>
                                      <m:t>+</m:t>
                                    </m:r>
                                    <m:r>
                                      <m:t>M</m:t>
                                    </m:r>
                                    <m:r>
                                      <m:t>m</m:t>
                                    </m:r>
                                    <m:sSup>
                                      <m:e>
                                        <m:r>
                                          <m:t>l</m:t>
                                        </m:r>
                                      </m:e>
                                      <m:sup>
                                        <m:r>
                                          <m:t>2</m:t>
                                        </m:r>
                                      </m:sup>
                                    </m:sSup>
                                  </m:den>
                                </m:f>
                              </m:e>
                              <m:e>
                                <m:f>
                                  <m:fPr>
                                    <m:type m:val="bar"/>
                                  </m:fPr>
                                  <m:num>
                                    <m:sSup>
                                      <m:e>
                                        <m:r>
                                          <m:t>m</m:t>
                                        </m:r>
                                      </m:e>
                                      <m:sup>
                                        <m:r>
                                          <m:t>2</m:t>
                                        </m:r>
                                      </m:sup>
                                    </m:sSup>
                                    <m:r>
                                      <m:t>g</m:t>
                                    </m:r>
                                    <m:sSup>
                                      <m:e>
                                        <m:r>
                                          <m:t>l</m:t>
                                        </m:r>
                                      </m:e>
                                      <m:sup>
                                        <m:r>
                                          <m:t>2</m:t>
                                        </m:r>
                                      </m:sup>
                                    </m:sSup>
                                  </m:num>
                                  <m:den>
                                    <m:r>
                                      <m:t>I</m:t>
                                    </m:r>
                                    <m:r>
                                      <m:rPr>
                                        <m:sty m:val="p"/>
                                      </m:rPr>
                                      <m:t>(</m:t>
                                    </m:r>
                                    <m:r>
                                      <m:t>M</m:t>
                                    </m:r>
                                    <m:r>
                                      <m:rPr>
                                        <m:sty m:val="p"/>
                                      </m:rPr>
                                      <m:t>+</m:t>
                                    </m:r>
                                    <m:r>
                                      <m:t>m</m:t>
                                    </m:r>
                                    <m:r>
                                      <m:rPr>
                                        <m:sty m:val="p"/>
                                      </m:rPr>
                                      <m:t>)</m:t>
                                    </m:r>
                                    <m:r>
                                      <m:rPr>
                                        <m:sty m:val="p"/>
                                      </m:rPr>
                                      <m:t>+</m:t>
                                    </m:r>
                                    <m:r>
                                      <m:t>M</m:t>
                                    </m:r>
                                    <m:r>
                                      <m:t>m</m:t>
                                    </m:r>
                                    <m:sSup>
                                      <m:e>
                                        <m:r>
                                          <m:t>l</m:t>
                                        </m:r>
                                      </m:e>
                                      <m:sup>
                                        <m:r>
                                          <m:t>2</m:t>
                                        </m:r>
                                      </m:sup>
                                    </m:sSup>
                                  </m:den>
                                </m:f>
                              </m:e>
                              <m:e>
                                <m:r>
                                  <m:t>0</m:t>
                                </m:r>
                              </m:e>
                            </m:mr>
                            <m:mr>
                              <m:e>
                                <m:r>
                                  <m:t>0</m:t>
                                </m:r>
                              </m:e>
                              <m:e>
                                <m:r>
                                  <m:t>0</m:t>
                                </m:r>
                              </m:e>
                              <m:e>
                                <m:r>
                                  <m:t>0</m:t>
                                </m:r>
                              </m:e>
                              <m:e>
                                <m:r>
                                  <m:t>1</m:t>
                                </m:r>
                              </m:e>
                            </m:mr>
                            <m:mr>
                              <m:e>
                                <m:r>
                                  <m:t>0</m:t>
                                </m:r>
                              </m:e>
                              <m:e>
                                <m:f>
                                  <m:fPr>
                                    <m:type m:val="bar"/>
                                  </m:fPr>
                                  <m:num>
                                    <m:r>
                                      <m:rPr>
                                        <m:sty m:val="p"/>
                                      </m:rPr>
                                      <m:t>−</m:t>
                                    </m:r>
                                    <m:r>
                                      <m:t>m</m:t>
                                    </m:r>
                                    <m:r>
                                      <m:t>l</m:t>
                                    </m:r>
                                    <m:r>
                                      <m:t>b</m:t>
                                    </m:r>
                                  </m:num>
                                  <m:den>
                                    <m:r>
                                      <m:t>I</m:t>
                                    </m:r>
                                    <m:r>
                                      <m:rPr>
                                        <m:sty m:val="p"/>
                                      </m:rPr>
                                      <m:t>(</m:t>
                                    </m:r>
                                    <m:r>
                                      <m:t>M</m:t>
                                    </m:r>
                                    <m:r>
                                      <m:rPr>
                                        <m:sty m:val="p"/>
                                      </m:rPr>
                                      <m:t>+</m:t>
                                    </m:r>
                                    <m:r>
                                      <m:t>m</m:t>
                                    </m:r>
                                    <m:r>
                                      <m:rPr>
                                        <m:sty m:val="p"/>
                                      </m:rPr>
                                      <m:t>)</m:t>
                                    </m:r>
                                    <m:r>
                                      <m:rPr>
                                        <m:sty m:val="p"/>
                                      </m:rPr>
                                      <m:t>+</m:t>
                                    </m:r>
                                    <m:r>
                                      <m:t>M</m:t>
                                    </m:r>
                                    <m:r>
                                      <m:t>m</m:t>
                                    </m:r>
                                    <m:sSup>
                                      <m:e>
                                        <m:r>
                                          <m:t>l</m:t>
                                        </m:r>
                                      </m:e>
                                      <m:sup>
                                        <m:r>
                                          <m:t>2</m:t>
                                        </m:r>
                                      </m:sup>
                                    </m:sSup>
                                  </m:den>
                                </m:f>
                              </m:e>
                              <m:e>
                                <m:f>
                                  <m:fPr>
                                    <m:type m:val="bar"/>
                                  </m:fPr>
                                  <m:num>
                                    <m:r>
                                      <m:t>m</m:t>
                                    </m:r>
                                    <m:r>
                                      <m:t>g</m:t>
                                    </m:r>
                                    <m:r>
                                      <m:t>l</m:t>
                                    </m:r>
                                    <m:r>
                                      <m:rPr>
                                        <m:sty m:val="p"/>
                                      </m:rPr>
                                      <m:t>(</m:t>
                                    </m:r>
                                    <m:r>
                                      <m:t>M</m:t>
                                    </m:r>
                                    <m:r>
                                      <m:rPr>
                                        <m:sty m:val="p"/>
                                      </m:rPr>
                                      <m:t>+</m:t>
                                    </m:r>
                                    <m:r>
                                      <m:t>m</m:t>
                                    </m:r>
                                    <m:r>
                                      <m:rPr>
                                        <m:sty m:val="p"/>
                                      </m:rPr>
                                      <m:t>)</m:t>
                                    </m:r>
                                  </m:num>
                                  <m:den>
                                    <m:r>
                                      <m:t>I</m:t>
                                    </m:r>
                                    <m:r>
                                      <m:rPr>
                                        <m:sty m:val="p"/>
                                      </m:rPr>
                                      <m:t>(</m:t>
                                    </m:r>
                                    <m:r>
                                      <m:t>M</m:t>
                                    </m:r>
                                    <m:r>
                                      <m:rPr>
                                        <m:sty m:val="p"/>
                                      </m:rPr>
                                      <m:t>+</m:t>
                                    </m:r>
                                    <m:r>
                                      <m:t>m</m:t>
                                    </m:r>
                                    <m:r>
                                      <m:rPr>
                                        <m:sty m:val="p"/>
                                      </m:rPr>
                                      <m:t>)</m:t>
                                    </m:r>
                                    <m:r>
                                      <m:rPr>
                                        <m:sty m:val="p"/>
                                      </m:rPr>
                                      <m:t>+</m:t>
                                    </m:r>
                                    <m:r>
                                      <m:t>M</m:t>
                                    </m:r>
                                    <m:r>
                                      <m:t>m</m:t>
                                    </m:r>
                                    <m:sSup>
                                      <m:e>
                                        <m:r>
                                          <m:t>l</m:t>
                                        </m:r>
                                      </m:e>
                                      <m:sup>
                                        <m:r>
                                          <m:t>2</m:t>
                                        </m:r>
                                      </m:sup>
                                    </m:sSup>
                                  </m:den>
                                </m:f>
                              </m:e>
                              <m:e>
                                <m:r>
                                  <m:t>0</m:t>
                                </m:r>
                              </m:e>
                            </m:mr>
                          </m:m>
                        </m:e>
                      </m:d>
                      <m:d>
                        <m:dPr>
                          <m:begChr m:val="["/>
                          <m:sepChr m:val=""/>
                          <m:endChr m:val="]"/>
                          <m:grow/>
                        </m:dPr>
                        <m:e>
                          <m:m>
                            <m:mPr>
                              <m:baseJc m:val="center"/>
                              <m:plcHide m:val="on"/>
                              <m:mcs>
                                <m:mc>
                                  <m:mcPr>
                                    <m:mcJc m:val="center"/>
                                    <m:count m:val="1"/>
                                  </m:mcPr>
                                </m:mc>
                              </m:mcs>
                            </m:mPr>
                            <m:mr>
                              <m:e>
                                <m:r>
                                  <m:t>x</m:t>
                                </m:r>
                              </m:e>
                            </m:mr>
                            <m:mr>
                              <m:e>
                                <m:acc>
                                  <m:accPr>
                                    <m:chr m:val="̇"/>
                                  </m:accPr>
                                  <m:e>
                                    <m:r>
                                      <m:t>x</m:t>
                                    </m:r>
                                  </m:e>
                                </m:acc>
                              </m:e>
                            </m:mr>
                            <m:mr>
                              <m:e>
                                <m:r>
                                  <m:t>ϕ</m:t>
                                </m:r>
                              </m:e>
                            </m:mr>
                            <m:mr>
                              <m:e>
                                <m:acc>
                                  <m:accPr>
                                    <m:chr m:val="̇"/>
                                  </m:accPr>
                                  <m:e>
                                    <m:r>
                                      <m:t>ϕ</m:t>
                                    </m:r>
                                  </m:e>
                                </m:acc>
                              </m:e>
                            </m:mr>
                          </m:m>
                        </m:e>
                      </m:d>
                      <m:r>
                        <m:rPr>
                          <m:sty m:val="p"/>
                        </m:rPr>
                        <m:t>+</m:t>
                      </m:r>
                      <m:d>
                        <m:dPr>
                          <m:begChr m:val="["/>
                          <m:sepChr m:val=""/>
                          <m:endChr m:val="]"/>
                          <m:grow/>
                        </m:dPr>
                        <m:e>
                          <m:m>
                            <m:mPr>
                              <m:baseJc m:val="center"/>
                              <m:plcHide m:val="on"/>
                              <m:mcs>
                                <m:mc>
                                  <m:mcPr>
                                    <m:mcJc m:val="center"/>
                                    <m:count m:val="1"/>
                                  </m:mcPr>
                                </m:mc>
                              </m:mcs>
                            </m:mPr>
                            <m:mr>
                              <m:e>
                                <m:r>
                                  <m:t>0</m:t>
                                </m:r>
                              </m:e>
                            </m:mr>
                            <m:mr>
                              <m:e>
                                <m:f>
                                  <m:fPr>
                                    <m:type m:val="bar"/>
                                  </m:fPr>
                                  <m:num>
                                    <m:r>
                                      <m:t>I</m:t>
                                    </m:r>
                                    <m:r>
                                      <m:rPr>
                                        <m:sty m:val="p"/>
                                      </m:rPr>
                                      <m:t>+</m:t>
                                    </m:r>
                                    <m:r>
                                      <m:t>m</m:t>
                                    </m:r>
                                    <m:sSup>
                                      <m:e>
                                        <m:r>
                                          <m:t>l</m:t>
                                        </m:r>
                                      </m:e>
                                      <m:sup>
                                        <m:r>
                                          <m:t>2</m:t>
                                        </m:r>
                                      </m:sup>
                                    </m:sSup>
                                  </m:num>
                                  <m:den>
                                    <m:r>
                                      <m:t>I</m:t>
                                    </m:r>
                                    <m:r>
                                      <m:rPr>
                                        <m:sty m:val="p"/>
                                      </m:rPr>
                                      <m:t>(</m:t>
                                    </m:r>
                                    <m:r>
                                      <m:t>M</m:t>
                                    </m:r>
                                    <m:r>
                                      <m:rPr>
                                        <m:sty m:val="p"/>
                                      </m:rPr>
                                      <m:t>+</m:t>
                                    </m:r>
                                    <m:r>
                                      <m:t>m</m:t>
                                    </m:r>
                                    <m:r>
                                      <m:rPr>
                                        <m:sty m:val="p"/>
                                      </m:rPr>
                                      <m:t>)</m:t>
                                    </m:r>
                                    <m:r>
                                      <m:rPr>
                                        <m:sty m:val="p"/>
                                      </m:rPr>
                                      <m:t>+</m:t>
                                    </m:r>
                                    <m:r>
                                      <m:t>M</m:t>
                                    </m:r>
                                    <m:r>
                                      <m:t>m</m:t>
                                    </m:r>
                                    <m:sSup>
                                      <m:e>
                                        <m:r>
                                          <m:t>l</m:t>
                                        </m:r>
                                      </m:e>
                                      <m:sup>
                                        <m:r>
                                          <m:t>2</m:t>
                                        </m:r>
                                      </m:sup>
                                    </m:sSup>
                                  </m:den>
                                </m:f>
                              </m:e>
                            </m:mr>
                            <m:mr>
                              <m:e>
                                <m:r>
                                  <m:t>0</m:t>
                                </m:r>
                              </m:e>
                            </m:mr>
                            <m:mr>
                              <m:e>
                                <m:f>
                                  <m:fPr>
                                    <m:type m:val="bar"/>
                                  </m:fPr>
                                  <m:num>
                                    <m:r>
                                      <m:t>m</m:t>
                                    </m:r>
                                    <m:r>
                                      <m:t>l</m:t>
                                    </m:r>
                                  </m:num>
                                  <m:den>
                                    <m:r>
                                      <m:t>I</m:t>
                                    </m:r>
                                    <m:r>
                                      <m:rPr>
                                        <m:sty m:val="p"/>
                                      </m:rPr>
                                      <m:t>(</m:t>
                                    </m:r>
                                    <m:r>
                                      <m:t>M</m:t>
                                    </m:r>
                                    <m:r>
                                      <m:rPr>
                                        <m:sty m:val="p"/>
                                      </m:rPr>
                                      <m:t>+</m:t>
                                    </m:r>
                                    <m:r>
                                      <m:t>m</m:t>
                                    </m:r>
                                    <m:r>
                                      <m:rPr>
                                        <m:sty m:val="p"/>
                                      </m:rPr>
                                      <m:t>)</m:t>
                                    </m:r>
                                    <m:r>
                                      <m:rPr>
                                        <m:sty m:val="p"/>
                                      </m:rPr>
                                      <m:t>+</m:t>
                                    </m:r>
                                    <m:r>
                                      <m:t>M</m:t>
                                    </m:r>
                                    <m:r>
                                      <m:t>m</m:t>
                                    </m:r>
                                    <m:sSup>
                                      <m:e>
                                        <m:r>
                                          <m:t>l</m:t>
                                        </m:r>
                                      </m:e>
                                      <m:sup>
                                        <m:r>
                                          <m:t>2</m:t>
                                        </m:r>
                                      </m:sup>
                                    </m:sSup>
                                  </m:den>
                                </m:f>
                              </m:e>
                            </m:mr>
                          </m:m>
                        </m:e>
                      </m:d>
                      <m:r>
                        <m:t>u</m:t>
                      </m:r>
                    </m:oMath>
                  </m:oMathPara>
                </a14:m>
              </a:p>
              <a:p>
                <a:pPr lvl="0" indent="0" marL="0">
                  <a:buNone/>
                </a:pPr>
                <a14:m>
                  <m:oMathPara xmlns:m="http://schemas.openxmlformats.org/officeDocument/2006/math">
                    <m:oMathParaPr>
                      <m:jc m:val="center"/>
                    </m:oMathParaPr>
                    <m:oMath>
                      <m:r>
                        <m:rPr>
                          <m:sty m:val="b"/>
                        </m:rPr>
                        <m:t>y</m:t>
                      </m:r>
                      <m:r>
                        <m:rPr>
                          <m:sty m:val="p"/>
                        </m:rPr>
                        <m:t>=</m:t>
                      </m:r>
                      <m:d>
                        <m:dPr>
                          <m:begChr m:val="["/>
                          <m:sepChr m:val=""/>
                          <m:endChr m:val="]"/>
                          <m:grow/>
                        </m:dPr>
                        <m:e>
                          <m:m>
                            <m:mPr>
                              <m:baseJc m:val="center"/>
                              <m:plcHide m:val="on"/>
                              <m:mcs>
                                <m:mc>
                                  <m:mcPr>
                                    <m:mcJc m:val="center"/>
                                    <m:count m:val="1"/>
                                  </m:mcPr>
                                </m:mc>
                                <m:mc>
                                  <m:mcPr>
                                    <m:mcJc m:val="center"/>
                                    <m:count m:val="1"/>
                                  </m:mcPr>
                                </m:mc>
                                <m:mc>
                                  <m:mcPr>
                                    <m:mcJc m:val="center"/>
                                    <m:count m:val="1"/>
                                  </m:mcPr>
                                </m:mc>
                                <m:mc>
                                  <m:mcPr>
                                    <m:mcJc m:val="center"/>
                                    <m:count m:val="1"/>
                                  </m:mcPr>
                                </m:mc>
                              </m:mcs>
                            </m:mPr>
                            <m:mr>
                              <m:e>
                                <m:r>
                                  <m:t>1</m:t>
                                </m:r>
                              </m:e>
                              <m:e>
                                <m:r>
                                  <m:t>0</m:t>
                                </m:r>
                              </m:e>
                              <m:e>
                                <m:r>
                                  <m:t>0</m:t>
                                </m:r>
                              </m:e>
                              <m:e>
                                <m:r>
                                  <m:t>0</m:t>
                                </m:r>
                              </m:e>
                            </m:mr>
                            <m:mr>
                              <m:e>
                                <m:r>
                                  <m:t>0</m:t>
                                </m:r>
                              </m:e>
                              <m:e>
                                <m:r>
                                  <m:t>0</m:t>
                                </m:r>
                              </m:e>
                              <m:e>
                                <m:r>
                                  <m:t>1</m:t>
                                </m:r>
                              </m:e>
                              <m:e>
                                <m:r>
                                  <m:t>0</m:t>
                                </m:r>
                              </m:e>
                            </m:mr>
                          </m:m>
                        </m:e>
                      </m:d>
                      <m:d>
                        <m:dPr>
                          <m:begChr m:val="["/>
                          <m:sepChr m:val=""/>
                          <m:endChr m:val="]"/>
                          <m:grow/>
                        </m:dPr>
                        <m:e>
                          <m:m>
                            <m:mPr>
                              <m:baseJc m:val="center"/>
                              <m:plcHide m:val="on"/>
                              <m:mcs>
                                <m:mc>
                                  <m:mcPr>
                                    <m:mcJc m:val="center"/>
                                    <m:count m:val="1"/>
                                  </m:mcPr>
                                </m:mc>
                              </m:mcs>
                            </m:mPr>
                            <m:mr>
                              <m:e>
                                <m:r>
                                  <m:t>x</m:t>
                                </m:r>
                              </m:e>
                            </m:mr>
                            <m:mr>
                              <m:e>
                                <m:acc>
                                  <m:accPr>
                                    <m:chr m:val="̇"/>
                                  </m:accPr>
                                  <m:e>
                                    <m:r>
                                      <m:t>x</m:t>
                                    </m:r>
                                  </m:e>
                                </m:acc>
                              </m:e>
                            </m:mr>
                            <m:mr>
                              <m:e>
                                <m:r>
                                  <m:t>ϕ</m:t>
                                </m:r>
                              </m:e>
                            </m:mr>
                            <m:mr>
                              <m:e>
                                <m:acc>
                                  <m:accPr>
                                    <m:chr m:val="̇"/>
                                  </m:accPr>
                                  <m:e>
                                    <m:r>
                                      <m:t>ϕ</m:t>
                                    </m:r>
                                  </m:e>
                                </m:acc>
                              </m:e>
                            </m:mr>
                          </m:m>
                        </m:e>
                      </m:d>
                      <m:r>
                        <m:rPr>
                          <m:sty m:val="p"/>
                        </m:rPr>
                        <m:t>+</m:t>
                      </m:r>
                      <m:d>
                        <m:dPr>
                          <m:begChr m:val="["/>
                          <m:sepChr m:val=""/>
                          <m:endChr m:val="]"/>
                          <m:grow/>
                        </m:dPr>
                        <m:e>
                          <m:m>
                            <m:mPr>
                              <m:baseJc m:val="center"/>
                              <m:plcHide m:val="on"/>
                              <m:mcs>
                                <m:mc>
                                  <m:mcPr>
                                    <m:mcJc m:val="center"/>
                                    <m:count m:val="1"/>
                                  </m:mcPr>
                                </m:mc>
                              </m:mcs>
                            </m:mPr>
                            <m:mr>
                              <m:e>
                                <m:r>
                                  <m:t>0</m:t>
                                </m:r>
                              </m:e>
                            </m:mr>
                            <m:mr>
                              <m:e>
                                <m:r>
                                  <m:t>0</m:t>
                                </m:r>
                              </m:e>
                            </m:mr>
                          </m:m>
                        </m:e>
                      </m:d>
                      <m:r>
                        <m:t>u</m:t>
                      </m:r>
                    </m:oMath>
                  </m:oMathPara>
                </a14:m>
              </a:p>
              <a:p>
                <a:pPr lvl="0" indent="0" marL="0">
                  <a:buNone/>
                </a:pPr>
                <a:r>
                  <a:rPr/>
                  <a:t>The </a:t>
                </a:r>
                <a14:m>
                  <m:oMath xmlns:m="http://schemas.openxmlformats.org/officeDocument/2006/math">
                    <m:r>
                      <m:t>C</m:t>
                    </m:r>
                  </m:oMath>
                </a14:m>
                <a:r>
                  <a:rPr/>
                  <a:t> matrix has 2 rows because both the cart’s position and the pendulum’s position are part of the output. Specifically, the cart’s position is the first element of the output </a:t>
                </a:r>
                <a14:m>
                  <m:oMath xmlns:m="http://schemas.openxmlformats.org/officeDocument/2006/math">
                    <m:r>
                      <m:rPr>
                        <m:sty m:val="b"/>
                      </m:rPr>
                      <m:t>y</m:t>
                    </m:r>
                  </m:oMath>
                </a14:m>
                <a:r>
                  <a:rPr/>
                  <a:t> and the pendulum’s deviation from its equilibrium position is the second element of </a:t>
                </a:r>
                <a14:m>
                  <m:oMath xmlns:m="http://schemas.openxmlformats.org/officeDocument/2006/math">
                    <m:r>
                      <m:rPr>
                        <m:sty m:val="b"/>
                      </m:rPr>
                      <m:t>y</m:t>
                    </m:r>
                  </m:oMath>
                </a14:m>
                <a:r>
                  <a:rPr/>
                  <a:t>.</a:t>
                </a:r>
              </a:p>
            </p:txBody>
          </p:sp>
        </mc:Choice>
      </mc:AlternateContent>
    </p:spTree>
  </p:cSld>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MATLAB representation</a:t>
            </a:r>
          </a:p>
        </p:txBody>
      </p:sp>
      <mc:AlternateContent xmlns:mc="http://schemas.openxmlformats.org/markup-compatibility/2006">
        <mc:Choice xmlns:a14="http://schemas.microsoft.com/office/drawing/2010/main" Requires="a14">
          <p:sp>
            <p:nvSpPr>
              <p:cNvPr id="3" name="Content Placeholder 2"/>
              <p:cNvSpPr>
                <a:spLocks noGrp="1"/>
              </p:cNvSpPr>
              <p:nvPr>
                <p:ph idx="1"/>
              </p:nvPr>
            </p:nvSpPr>
            <p:spPr/>
            <p:txBody>
              <a:bodyPr/>
              <a:lstStyle/>
              <a:p>
                <a:pPr lvl="0" indent="0" marL="0">
                  <a:spcBef>
                    <a:spcPts val="3000"/>
                  </a:spcBef>
                  <a:buNone/>
                </a:pPr>
                <a:r>
                  <a:rPr b="1"/>
                  <a:t>Tranfer Function</a:t>
                </a:r>
              </a:p>
              <a:p>
                <a:pPr lvl="0" indent="0" marL="0">
                  <a:buNone/>
                </a:pPr>
                <a:r>
                  <a:rPr/>
                  <a:t>We can represent the transfer functions derived above for the inverted pendulum system within MATLAB employing the following commands.</a:t>
                </a:r>
              </a:p>
              <a:p>
                <a:pPr lvl="0" indent="0" marL="0">
                  <a:buNone/>
                </a:pPr>
                <a14:m>
                  <m:oMathPara xmlns:m="http://schemas.openxmlformats.org/officeDocument/2006/math">
                    <m:oMathParaPr>
                      <m:jc m:val="center"/>
                    </m:oMathParaPr>
                    <m:oMath>
                      <m:r>
                        <m:rPr>
                          <m:nor/>
                          <m:sty m:val="p"/>
                        </m:rPr>
                        <m:t>From input </m:t>
                      </m:r>
                      <m:r>
                        <m:t>u</m:t>
                      </m:r>
                      <m:r>
                        <m:rPr>
                          <m:nor/>
                          <m:sty m:val="p"/>
                        </m:rPr>
                        <m:t> to output </m:t>
                      </m:r>
                      <m:r>
                        <m:t>x</m:t>
                      </m:r>
                      <m:r>
                        <m:rPr>
                          <m:sty m:val="p"/>
                        </m:rPr>
                        <m:t>:</m:t>
                      </m:r>
                    </m:oMath>
                  </m:oMathPara>
                </a14:m>
              </a:p>
              <a:p>
                <a:pPr lvl="0" indent="0" marL="0">
                  <a:buNone/>
                </a:pPr>
                <a14:m>
                  <m:oMathPara xmlns:m="http://schemas.openxmlformats.org/officeDocument/2006/math">
                    <m:oMathParaPr>
                      <m:jc m:val="center"/>
                    </m:oMathParaPr>
                    <m:oMath>
                      <m:sSub>
                        <m:e>
                          <m:r>
                            <m:t>P</m:t>
                          </m:r>
                        </m:e>
                        <m:sub>
                          <m:r>
                            <m:t>c</m:t>
                          </m:r>
                          <m:r>
                            <m:t>a</m:t>
                          </m:r>
                          <m:r>
                            <m:t>r</m:t>
                          </m:r>
                          <m:r>
                            <m:t>t</m:t>
                          </m:r>
                        </m:sub>
                      </m:sSub>
                      <m:r>
                        <m:rPr>
                          <m:sty m:val="p"/>
                        </m:rPr>
                        <m:t>(</m:t>
                      </m:r>
                      <m:r>
                        <m:t>s</m:t>
                      </m:r>
                      <m:r>
                        <m:rPr>
                          <m:sty m:val="p"/>
                        </m:rPr>
                        <m:t>)</m:t>
                      </m:r>
                      <m:r>
                        <m:rPr>
                          <m:sty m:val="p"/>
                        </m:rPr>
                        <m:t>=</m:t>
                      </m:r>
                      <m:f>
                        <m:fPr>
                          <m:type m:val="bar"/>
                        </m:fPr>
                        <m:num>
                          <m:r>
                            <m:t>4.182</m:t>
                          </m:r>
                          <m:r>
                            <m:rPr>
                              <m:sty m:val="p"/>
                            </m:rPr>
                            <m:t>×</m:t>
                          </m:r>
                          <m:sSup>
                            <m:e>
                              <m:r>
                                <m:t>10</m:t>
                              </m:r>
                            </m:e>
                            <m:sup>
                              <m:r>
                                <m:rPr>
                                  <m:sty m:val="p"/>
                                </m:rPr>
                                <m:t>−</m:t>
                              </m:r>
                              <m:r>
                                <m:t>6</m:t>
                              </m:r>
                            </m:sup>
                          </m:sSup>
                          <m:sSup>
                            <m:e>
                              <m:r>
                                <m:t>s</m:t>
                              </m:r>
                            </m:e>
                            <m:sup>
                              <m:r>
                                <m:t>2</m:t>
                              </m:r>
                            </m:sup>
                          </m:sSup>
                          <m:r>
                            <m:rPr>
                              <m:sty m:val="p"/>
                            </m:rPr>
                            <m:t>−</m:t>
                          </m:r>
                          <m:r>
                            <m:t>1.025</m:t>
                          </m:r>
                          <m:r>
                            <m:rPr>
                              <m:sty m:val="p"/>
                            </m:rPr>
                            <m:t>×</m:t>
                          </m:r>
                          <m:sSup>
                            <m:e>
                              <m:r>
                                <m:t>10</m:t>
                              </m:r>
                            </m:e>
                            <m:sup>
                              <m:r>
                                <m:rPr>
                                  <m:sty m:val="p"/>
                                </m:rPr>
                                <m:t>−</m:t>
                              </m:r>
                              <m:r>
                                <m:t>4</m:t>
                              </m:r>
                            </m:sup>
                          </m:sSup>
                        </m:num>
                        <m:den>
                          <m:r>
                            <m:t>2.3</m:t>
                          </m:r>
                          <m:r>
                            <m:rPr>
                              <m:sty m:val="p"/>
                            </m:rPr>
                            <m:t>×</m:t>
                          </m:r>
                          <m:sSup>
                            <m:e>
                              <m:r>
                                <m:t>10</m:t>
                              </m:r>
                            </m:e>
                            <m:sup>
                              <m:r>
                                <m:rPr>
                                  <m:sty m:val="p"/>
                                </m:rPr>
                                <m:t>−</m:t>
                              </m:r>
                              <m:r>
                                <m:t>6</m:t>
                              </m:r>
                            </m:sup>
                          </m:sSup>
                          <m:sSup>
                            <m:e>
                              <m:r>
                                <m:t>s</m:t>
                              </m:r>
                            </m:e>
                            <m:sup>
                              <m:r>
                                <m:t>4</m:t>
                              </m:r>
                            </m:sup>
                          </m:sSup>
                          <m:r>
                            <m:rPr>
                              <m:sty m:val="p"/>
                            </m:rPr>
                            <m:t>+</m:t>
                          </m:r>
                          <m:r>
                            <m:t>4.182</m:t>
                          </m:r>
                          <m:r>
                            <m:rPr>
                              <m:sty m:val="p"/>
                            </m:rPr>
                            <m:t>×</m:t>
                          </m:r>
                          <m:sSup>
                            <m:e>
                              <m:r>
                                <m:t>10</m:t>
                              </m:r>
                            </m:e>
                            <m:sup>
                              <m:r>
                                <m:rPr>
                                  <m:sty m:val="p"/>
                                </m:rPr>
                                <m:t>−</m:t>
                              </m:r>
                              <m:r>
                                <m:t>7</m:t>
                              </m:r>
                            </m:sup>
                          </m:sSup>
                          <m:sSup>
                            <m:e>
                              <m:r>
                                <m:t>s</m:t>
                              </m:r>
                            </m:e>
                            <m:sup>
                              <m:r>
                                <m:t>3</m:t>
                              </m:r>
                            </m:sup>
                          </m:sSup>
                          <m:r>
                            <m:rPr>
                              <m:sty m:val="p"/>
                            </m:rPr>
                            <m:t>−</m:t>
                          </m:r>
                          <m:r>
                            <m:t>7.172</m:t>
                          </m:r>
                          <m:r>
                            <m:rPr>
                              <m:sty m:val="p"/>
                            </m:rPr>
                            <m:t>×</m:t>
                          </m:r>
                          <m:sSup>
                            <m:e>
                              <m:r>
                                <m:t>10</m:t>
                              </m:r>
                            </m:e>
                            <m:sup>
                              <m:r>
                                <m:rPr>
                                  <m:sty m:val="p"/>
                                </m:rPr>
                                <m:t>−</m:t>
                              </m:r>
                              <m:r>
                                <m:t>5</m:t>
                              </m:r>
                            </m:sup>
                          </m:sSup>
                          <m:sSup>
                            <m:e>
                              <m:r>
                                <m:t>s</m:t>
                              </m:r>
                            </m:e>
                            <m:sup>
                              <m:r>
                                <m:t>2</m:t>
                              </m:r>
                            </m:sup>
                          </m:sSup>
                          <m:r>
                            <m:rPr>
                              <m:sty m:val="p"/>
                            </m:rPr>
                            <m:t>−</m:t>
                          </m:r>
                          <m:r>
                            <m:t>1.025</m:t>
                          </m:r>
                          <m:r>
                            <m:rPr>
                              <m:sty m:val="p"/>
                            </m:rPr>
                            <m:t>×</m:t>
                          </m:r>
                          <m:sSup>
                            <m:e>
                              <m:r>
                                <m:t>10</m:t>
                              </m:r>
                            </m:e>
                            <m:sup>
                              <m:r>
                                <m:rPr>
                                  <m:sty m:val="p"/>
                                </m:rPr>
                                <m:t>−</m:t>
                              </m:r>
                              <m:r>
                                <m:t>5</m:t>
                              </m:r>
                            </m:sup>
                          </m:sSup>
                          <m:r>
                            <m:t>s</m:t>
                          </m:r>
                        </m:den>
                      </m:f>
                    </m:oMath>
                  </m:oMathPara>
                </a14:m>
              </a:p>
              <a:p>
                <a:pPr lvl="0" indent="0" marL="0">
                  <a:buNone/>
                </a:pPr>
                <a14:m>
                  <m:oMathPara xmlns:m="http://schemas.openxmlformats.org/officeDocument/2006/math">
                    <m:oMathParaPr>
                      <m:jc m:val="center"/>
                    </m:oMathParaPr>
                    <m:oMath>
                      <m:r>
                        <m:rPr>
                          <m:nor/>
                          <m:sty m:val="p"/>
                        </m:rPr>
                        <m:t>From input </m:t>
                      </m:r>
                      <m:r>
                        <m:t>u</m:t>
                      </m:r>
                      <m:r>
                        <m:rPr>
                          <m:nor/>
                          <m:sty m:val="p"/>
                        </m:rPr>
                        <m:t> to output </m:t>
                      </m:r>
                      <m:r>
                        <m:t>ϕ</m:t>
                      </m:r>
                      <m:r>
                        <m:rPr>
                          <m:sty m:val="p"/>
                        </m:rPr>
                        <m:t>:</m:t>
                      </m:r>
                    </m:oMath>
                  </m:oMathPara>
                </a14:m>
              </a:p>
              <a:p>
                <a:pPr lvl="0" indent="0" marL="0">
                  <a:buNone/>
                </a:pPr>
                <a14:m>
                  <m:oMathPara xmlns:m="http://schemas.openxmlformats.org/officeDocument/2006/math">
                    <m:oMathParaPr>
                      <m:jc m:val="center"/>
                    </m:oMathParaPr>
                    <m:oMath>
                      <m:sSub>
                        <m:e>
                          <m:r>
                            <m:t>P</m:t>
                          </m:r>
                        </m:e>
                        <m:sub>
                          <m:r>
                            <m:t>p</m:t>
                          </m:r>
                          <m:r>
                            <m:t>e</m:t>
                          </m:r>
                          <m:r>
                            <m:t>n</m:t>
                          </m:r>
                          <m:r>
                            <m:t>d</m:t>
                          </m:r>
                        </m:sub>
                      </m:sSub>
                      <m:r>
                        <m:rPr>
                          <m:sty m:val="p"/>
                        </m:rPr>
                        <m:t>(</m:t>
                      </m:r>
                      <m:r>
                        <m:t>s</m:t>
                      </m:r>
                      <m:r>
                        <m:rPr>
                          <m:sty m:val="p"/>
                        </m:rPr>
                        <m:t>)</m:t>
                      </m:r>
                      <m:r>
                        <m:rPr>
                          <m:sty m:val="p"/>
                        </m:rPr>
                        <m:t>=</m:t>
                      </m:r>
                      <m:f>
                        <m:fPr>
                          <m:type m:val="bar"/>
                        </m:fPr>
                        <m:num>
                          <m:r>
                            <m:t>1.045</m:t>
                          </m:r>
                          <m:r>
                            <m:rPr>
                              <m:sty m:val="p"/>
                            </m:rPr>
                            <m:t>×</m:t>
                          </m:r>
                          <m:sSup>
                            <m:e>
                              <m:r>
                                <m:t>10</m:t>
                              </m:r>
                            </m:e>
                            <m:sup>
                              <m:r>
                                <m:rPr>
                                  <m:sty m:val="p"/>
                                </m:rPr>
                                <m:t>−</m:t>
                              </m:r>
                              <m:r>
                                <m:t>5</m:t>
                              </m:r>
                            </m:sup>
                          </m:sSup>
                          <m:r>
                            <m:t>s</m:t>
                          </m:r>
                        </m:num>
                        <m:den>
                          <m:r>
                            <m:t>2.3</m:t>
                          </m:r>
                          <m:r>
                            <m:rPr>
                              <m:sty m:val="p"/>
                            </m:rPr>
                            <m:t>×</m:t>
                          </m:r>
                          <m:sSup>
                            <m:e>
                              <m:r>
                                <m:t>10</m:t>
                              </m:r>
                            </m:e>
                            <m:sup>
                              <m:r>
                                <m:rPr>
                                  <m:sty m:val="p"/>
                                </m:rPr>
                                <m:t>−</m:t>
                              </m:r>
                              <m:r>
                                <m:t>6</m:t>
                              </m:r>
                            </m:sup>
                          </m:sSup>
                          <m:sSup>
                            <m:e>
                              <m:r>
                                <m:t>s</m:t>
                              </m:r>
                            </m:e>
                            <m:sup>
                              <m:r>
                                <m:t>3</m:t>
                              </m:r>
                            </m:sup>
                          </m:sSup>
                          <m:r>
                            <m:rPr>
                              <m:sty m:val="p"/>
                            </m:rPr>
                            <m:t>+</m:t>
                          </m:r>
                          <m:r>
                            <m:t>4.182</m:t>
                          </m:r>
                          <m:r>
                            <m:rPr>
                              <m:sty m:val="p"/>
                            </m:rPr>
                            <m:t>×</m:t>
                          </m:r>
                          <m:sSup>
                            <m:e>
                              <m:r>
                                <m:t>10</m:t>
                              </m:r>
                            </m:e>
                            <m:sup>
                              <m:r>
                                <m:rPr>
                                  <m:sty m:val="p"/>
                                </m:rPr>
                                <m:t>−</m:t>
                              </m:r>
                              <m:r>
                                <m:t>7</m:t>
                              </m:r>
                            </m:sup>
                          </m:sSup>
                          <m:sSup>
                            <m:e>
                              <m:r>
                                <m:t>s</m:t>
                              </m:r>
                            </m:e>
                            <m:sup>
                              <m:r>
                                <m:t>2</m:t>
                              </m:r>
                            </m:sup>
                          </m:sSup>
                          <m:r>
                            <m:rPr>
                              <m:sty m:val="p"/>
                            </m:rPr>
                            <m:t>−</m:t>
                          </m:r>
                          <m:r>
                            <m:t>7.172</m:t>
                          </m:r>
                          <m:r>
                            <m:rPr>
                              <m:sty m:val="p"/>
                            </m:rPr>
                            <m:t>×</m:t>
                          </m:r>
                          <m:sSup>
                            <m:e>
                              <m:r>
                                <m:t>10</m:t>
                              </m:r>
                            </m:e>
                            <m:sup>
                              <m:r>
                                <m:rPr>
                                  <m:sty m:val="p"/>
                                </m:rPr>
                                <m:t>−</m:t>
                              </m:r>
                              <m:r>
                                <m:t>5</m:t>
                              </m:r>
                            </m:sup>
                          </m:sSup>
                          <m:r>
                            <m:t>s</m:t>
                          </m:r>
                          <m:r>
                            <m:rPr>
                              <m:sty m:val="p"/>
                            </m:rPr>
                            <m:t>−</m:t>
                          </m:r>
                          <m:r>
                            <m:t>1.025</m:t>
                          </m:r>
                          <m:r>
                            <m:rPr>
                              <m:sty m:val="p"/>
                            </m:rPr>
                            <m:t>×</m:t>
                          </m:r>
                          <m:sSup>
                            <m:e>
                              <m:r>
                                <m:t>10</m:t>
                              </m:r>
                            </m:e>
                            <m:sup>
                              <m:r>
                                <m:rPr>
                                  <m:sty m:val="p"/>
                                </m:rPr>
                                <m:t>−</m:t>
                              </m:r>
                              <m:r>
                                <m:t>5</m:t>
                              </m:r>
                            </m:sup>
                          </m:sSup>
                        </m:den>
                      </m:f>
                    </m:oMath>
                  </m:oMathPara>
                </a14:m>
              </a:p>
              <a:p>
                <a:pPr lvl="0" indent="0" marL="0">
                  <a:buNone/>
                </a:pPr>
                <a14:m>
                  <m:oMathPara xmlns:m="http://schemas.openxmlformats.org/officeDocument/2006/math">
                    <m:oMathParaPr>
                      <m:jc m:val="center"/>
                    </m:oMathParaPr>
                    <m:oMath>
                      <m:r>
                        <m:rPr>
                          <m:nor/>
                          <m:sty m:val="p"/>
                        </m:rPr>
                        <m:t>Continuous-time transfer function.</m:t>
                      </m:r>
                    </m:oMath>
                  </m:oMathPara>
                </a14:m>
              </a:p>
              <a:p>
                <a:pPr lvl="0" indent="0" marL="0">
                  <a:spcBef>
                    <a:spcPts val="3000"/>
                  </a:spcBef>
                  <a:buNone/>
                </a:pPr>
                <a:r>
                  <a:rPr b="1"/>
                  <a:t>State -Space</a:t>
                </a:r>
              </a:p>
              <a:p>
                <a:pPr lvl="0" indent="0" marL="0">
                  <a:buNone/>
                </a:pPr>
                <a:r>
                  <a:rPr/>
                  <a:t>We can also represent the system using the state-space equations. The following additional MATLAB commands create a state-space model of the inverted pendulum and produce the output shown below when run in the MATLAB command window.</a:t>
                </a:r>
              </a:p>
              <a:p>
                <a:pPr lvl="0" indent="0" marL="0">
                  <a:buNone/>
                </a:pPr>
                <a14:m>
                  <m:oMathPara xmlns:m="http://schemas.openxmlformats.org/officeDocument/2006/math">
                    <m:oMathParaPr>
                      <m:jc m:val="center"/>
                    </m:oMathParaPr>
                    <m:oMath>
                      <m:r>
                        <m:t>A</m:t>
                      </m:r>
                      <m:r>
                        <m:rPr>
                          <m:sty m:val="p"/>
                        </m:rPr>
                        <m:t>=</m:t>
                      </m:r>
                      <m:d>
                        <m:dPr>
                          <m:begChr m:val="["/>
                          <m:sepChr m:val=""/>
                          <m:endChr m:val="]"/>
                          <m:grow/>
                        </m:dPr>
                        <m:e>
                          <m:m>
                            <m:mPr>
                              <m:baseJc m:val="center"/>
                              <m:plcHide m:val="on"/>
                              <m:mcs>
                                <m:mc>
                                  <m:mcPr>
                                    <m:mcJc m:val="center"/>
                                    <m:count m:val="1"/>
                                  </m:mcPr>
                                </m:mc>
                                <m:mc>
                                  <m:mcPr>
                                    <m:mcJc m:val="center"/>
                                    <m:count m:val="1"/>
                                  </m:mcPr>
                                </m:mc>
                                <m:mc>
                                  <m:mcPr>
                                    <m:mcJc m:val="center"/>
                                    <m:count m:val="1"/>
                                  </m:mcPr>
                                </m:mc>
                                <m:mc>
                                  <m:mcPr>
                                    <m:mcJc m:val="center"/>
                                    <m:count m:val="1"/>
                                  </m:mcPr>
                                </m:mc>
                              </m:mcs>
                            </m:mPr>
                            <m:mr>
                              <m:e>
                                <m:r>
                                  <m:t>0</m:t>
                                </m:r>
                              </m:e>
                              <m:e>
                                <m:r>
                                  <m:t>1</m:t>
                                </m:r>
                              </m:e>
                              <m:e>
                                <m:r>
                                  <m:t>0</m:t>
                                </m:r>
                              </m:e>
                              <m:e>
                                <m:r>
                                  <m:t>0</m:t>
                                </m:r>
                              </m:e>
                            </m:mr>
                            <m:mr>
                              <m:e>
                                <m:r>
                                  <m:t>0</m:t>
                                </m:r>
                              </m:e>
                              <m:e>
                                <m:r>
                                  <m:rPr>
                                    <m:sty m:val="p"/>
                                  </m:rPr>
                                  <m:t>−</m:t>
                                </m:r>
                                <m:r>
                                  <m:t>0.1818</m:t>
                                </m:r>
                              </m:e>
                              <m:e>
                                <m:r>
                                  <m:t>2.673</m:t>
                                </m:r>
                              </m:e>
                              <m:e>
                                <m:r>
                                  <m:t>0</m:t>
                                </m:r>
                              </m:e>
                            </m:mr>
                            <m:mr>
                              <m:e>
                                <m:r>
                                  <m:t>0</m:t>
                                </m:r>
                              </m:e>
                              <m:e>
                                <m:r>
                                  <m:t>0</m:t>
                                </m:r>
                              </m:e>
                              <m:e>
                                <m:r>
                                  <m:t>0</m:t>
                                </m:r>
                              </m:e>
                              <m:e>
                                <m:r>
                                  <m:t>1</m:t>
                                </m:r>
                              </m:e>
                            </m:mr>
                            <m:mr>
                              <m:e>
                                <m:r>
                                  <m:t>0</m:t>
                                </m:r>
                              </m:e>
                              <m:e>
                                <m:r>
                                  <m:rPr>
                                    <m:sty m:val="p"/>
                                  </m:rPr>
                                  <m:t>−</m:t>
                                </m:r>
                                <m:r>
                                  <m:t>0.4545</m:t>
                                </m:r>
                              </m:e>
                              <m:e>
                                <m:r>
                                  <m:t>31.18</m:t>
                                </m:r>
                              </m:e>
                              <m:e>
                                <m:r>
                                  <m:t>0</m:t>
                                </m:r>
                              </m:e>
                            </m:mr>
                          </m:m>
                        </m:e>
                      </m:d>
                      <m:r>
                        <m:rPr>
                          <m:sty m:val="p"/>
                        </m:rPr>
                        <m:t>,</m:t>
                      </m:r>
                      <m:r>
                        <m:t> </m:t>
                      </m:r>
                      <m:r>
                        <m:t>B</m:t>
                      </m:r>
                      <m:r>
                        <m:rPr>
                          <m:sty m:val="p"/>
                        </m:rPr>
                        <m:t>=</m:t>
                      </m:r>
                      <m:d>
                        <m:dPr>
                          <m:begChr m:val="["/>
                          <m:sepChr m:val=""/>
                          <m:endChr m:val="]"/>
                          <m:grow/>
                        </m:dPr>
                        <m:e>
                          <m:m>
                            <m:mPr>
                              <m:baseJc m:val="center"/>
                              <m:plcHide m:val="on"/>
                              <m:mcs>
                                <m:mc>
                                  <m:mcPr>
                                    <m:mcJc m:val="center"/>
                                    <m:count m:val="1"/>
                                  </m:mcPr>
                                </m:mc>
                              </m:mcs>
                            </m:mPr>
                            <m:mr>
                              <m:e>
                                <m:r>
                                  <m:t>0</m:t>
                                </m:r>
                              </m:e>
                            </m:mr>
                            <m:mr>
                              <m:e>
                                <m:r>
                                  <m:t>1.818</m:t>
                                </m:r>
                              </m:e>
                            </m:mr>
                            <m:mr>
                              <m:e>
                                <m:r>
                                  <m:t>0</m:t>
                                </m:r>
                              </m:e>
                            </m:mr>
                            <m:mr>
                              <m:e>
                                <m:r>
                                  <m:t>4.545</m:t>
                                </m:r>
                              </m:e>
                            </m:mr>
                          </m:m>
                        </m:e>
                      </m:d>
                      <m:r>
                        <m:rPr>
                          <m:sty m:val="p"/>
                        </m:rPr>
                        <m:t>,</m:t>
                      </m:r>
                    </m:oMath>
                  </m:oMathPara>
                </a14:m>
              </a:p>
              <a:p>
                <a:pPr lvl="0" indent="0" marL="0">
                  <a:buNone/>
                </a:pPr>
                <a14:m>
                  <m:oMathPara xmlns:m="http://schemas.openxmlformats.org/officeDocument/2006/math">
                    <m:oMathParaPr>
                      <m:jc m:val="center"/>
                    </m:oMathParaPr>
                    <m:oMath>
                      <m:r>
                        <m:t>C</m:t>
                      </m:r>
                      <m:r>
                        <m:rPr>
                          <m:sty m:val="p"/>
                        </m:rPr>
                        <m:t>=</m:t>
                      </m:r>
                      <m:d>
                        <m:dPr>
                          <m:begChr m:val="["/>
                          <m:sepChr m:val=""/>
                          <m:endChr m:val="]"/>
                          <m:grow/>
                        </m:dPr>
                        <m:e>
                          <m:m>
                            <m:mPr>
                              <m:baseJc m:val="center"/>
                              <m:plcHide m:val="on"/>
                              <m:mcs>
                                <m:mc>
                                  <m:mcPr>
                                    <m:mcJc m:val="center"/>
                                    <m:count m:val="1"/>
                                  </m:mcPr>
                                </m:mc>
                                <m:mc>
                                  <m:mcPr>
                                    <m:mcJc m:val="center"/>
                                    <m:count m:val="1"/>
                                  </m:mcPr>
                                </m:mc>
                                <m:mc>
                                  <m:mcPr>
                                    <m:mcJc m:val="center"/>
                                    <m:count m:val="1"/>
                                  </m:mcPr>
                                </m:mc>
                                <m:mc>
                                  <m:mcPr>
                                    <m:mcJc m:val="center"/>
                                    <m:count m:val="1"/>
                                  </m:mcPr>
                                </m:mc>
                              </m:mcs>
                            </m:mPr>
                            <m:mr>
                              <m:e>
                                <m:r>
                                  <m:t>1</m:t>
                                </m:r>
                              </m:e>
                              <m:e>
                                <m:r>
                                  <m:t>0</m:t>
                                </m:r>
                              </m:e>
                              <m:e>
                                <m:r>
                                  <m:t>0</m:t>
                                </m:r>
                              </m:e>
                              <m:e>
                                <m:r>
                                  <m:t>0</m:t>
                                </m:r>
                              </m:e>
                            </m:mr>
                            <m:mr>
                              <m:e>
                                <m:r>
                                  <m:t>0</m:t>
                                </m:r>
                              </m:e>
                              <m:e>
                                <m:r>
                                  <m:t>0</m:t>
                                </m:r>
                              </m:e>
                              <m:e>
                                <m:r>
                                  <m:t>1</m:t>
                                </m:r>
                              </m:e>
                              <m:e>
                                <m:r>
                                  <m:t>0</m:t>
                                </m:r>
                              </m:e>
                            </m:mr>
                          </m:m>
                        </m:e>
                      </m:d>
                      <m:r>
                        <m:rPr>
                          <m:sty m:val="p"/>
                        </m:rPr>
                        <m:t>,</m:t>
                      </m:r>
                      <m:r>
                        <m:t> </m:t>
                      </m:r>
                      <m:r>
                        <m:t>D</m:t>
                      </m:r>
                      <m:r>
                        <m:rPr>
                          <m:sty m:val="p"/>
                        </m:rPr>
                        <m:t>=</m:t>
                      </m:r>
                      <m:d>
                        <m:dPr>
                          <m:begChr m:val="["/>
                          <m:sepChr m:val=""/>
                          <m:endChr m:val="]"/>
                          <m:grow/>
                        </m:dPr>
                        <m:e>
                          <m:m>
                            <m:mPr>
                              <m:baseJc m:val="center"/>
                              <m:plcHide m:val="on"/>
                              <m:mcs>
                                <m:mc>
                                  <m:mcPr>
                                    <m:mcJc m:val="center"/>
                                    <m:count m:val="1"/>
                                  </m:mcPr>
                                </m:mc>
                              </m:mcs>
                            </m:mPr>
                            <m:mr>
                              <m:e>
                                <m:r>
                                  <m:t>0</m:t>
                                </m:r>
                              </m:e>
                            </m:mr>
                            <m:mr>
                              <m:e>
                                <m:r>
                                  <m:t>0</m:t>
                                </m:r>
                              </m:e>
                            </m:mr>
                          </m:m>
                        </m:e>
                      </m:d>
                    </m:oMath>
                  </m:oMathPara>
                </a14:m>
              </a:p>
            </p:txBody>
          </p:sp>
        </mc:Choice>
      </mc:AlternateContent>
    </p:spTree>
  </p:cSld>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1" y="204787"/>
            <a:ext cx="3008313" cy="871538"/>
          </a:xfrm>
        </p:spPr>
        <p:txBody>
          <a:bodyPr/>
          <a:lstStyle/>
          <a:p>
            <a:pPr lvl="0" indent="0" marL="0">
              <a:buNone/>
            </a:pPr>
            <a:r>
              <a:rPr/>
              <a:t>Data Generation Analysis using Gymnasium</a:t>
            </a:r>
          </a:p>
        </p:txBody>
      </p:sp>
      <mc:AlternateContent xmlns:mc="http://schemas.openxmlformats.org/markup-compatibility/2006">
        <mc:Choice xmlns:a14="http://schemas.microsoft.com/office/drawing/2010/main" Requires="a14">
          <p:sp>
            <p:nvSpPr>
              <p:cNvPr id="4" name="Text Placeholder 3"/>
              <p:cNvSpPr>
                <a:spLocks noGrp="1"/>
              </p:cNvSpPr>
              <p:nvPr>
                <p:ph idx="2" sz="half" type="body"/>
              </p:nvPr>
            </p:nvSpPr>
            <p:spPr/>
            <p:txBody>
              <a:bodyPr/>
              <a:lstStyle/>
              <a:p>
                <a:pPr lvl="0" indent="0" marL="0">
                  <a:buNone/>
                </a:pPr>
                <a:r>
                  <a:rPr/>
                  <a:t>This work uses the </a:t>
                </a:r>
                <a:r>
                  <a:rPr>
                    <a:latin typeface="Courier"/>
                  </a:rPr>
                  <a:t>InvertedPendulum-v5</a:t>
                </a:r>
                <a:r>
                  <a:rPr/>
                  <a:t> environment from the </a:t>
                </a:r>
                <a:r>
                  <a:rPr>
                    <a:latin typeface="Courier"/>
                  </a:rPr>
                  <a:t>Gymnasium</a:t>
                </a:r>
                <a:r>
                  <a:rPr/>
                  <a:t> library, which is a MuJoCo-based environment. The task is to balance an inverted pendulum on a cart by applying horizontal forces.</a:t>
                </a:r>
              </a:p>
              <a:p>
                <a:pPr lvl="0" indent="0" marL="0">
                  <a:spcBef>
                    <a:spcPts val="3000"/>
                  </a:spcBef>
                  <a:buNone/>
                </a:pPr>
                <a:r>
                  <a:rPr b="1"/>
                  <a:t>Import</a:t>
                </a:r>
              </a:p>
              <a:p>
                <a:pPr lvl="0" indent="0">
                  <a:buNone/>
                </a:pPr>
                <a:r>
                  <a:rPr>
                    <a:latin typeface="Courier"/>
                  </a:rPr>
                  <a:t>import gymnasium as gym
env = gym.make("InvertedPendulum-v5")</a:t>
                </a:r>
              </a:p>
              <a:p>
                <a:pPr lvl="0" indent="0" marL="0">
                  <a:spcBef>
                    <a:spcPts val="3000"/>
                  </a:spcBef>
                  <a:buNone/>
                </a:pPr>
                <a:r>
                  <a:rPr b="1"/>
                  <a:t>Action Space</a:t>
                </a:r>
              </a:p>
              <a:p>
                <a:pPr lvl="0" indent="0" marL="0">
                  <a:buNone/>
                </a:pPr>
                <a:r>
                  <a:rPr/>
                  <a:t>The action space is continuous and represented as:</a:t>
                </a:r>
              </a:p>
              <a:p>
                <a:pPr lvl="0" indent="0" marL="0">
                  <a:buNone/>
                </a:pPr>
                <a14:m>
                  <m:oMathPara xmlns:m="http://schemas.openxmlformats.org/officeDocument/2006/math">
                    <m:oMathParaPr>
                      <m:jc m:val="center"/>
                    </m:oMathParaPr>
                    <m:oMath>
                      <m:r>
                        <m:rPr>
                          <m:nor/>
                          <m:sty m:val="p"/>
                        </m:rPr>
                        <m:t>Box</m:t>
                      </m:r>
                      <m:r>
                        <m:rPr>
                          <m:sty m:val="p"/>
                        </m:rPr>
                        <m:t>(</m:t>
                      </m:r>
                      <m:r>
                        <m:rPr>
                          <m:sty m:val="p"/>
                        </m:rPr>
                        <m:t>[</m:t>
                      </m:r>
                      <m:r>
                        <m:rPr>
                          <m:sty m:val="p"/>
                        </m:rPr>
                        <m:t>−</m:t>
                      </m:r>
                      <m:r>
                        <m:t>3.0</m:t>
                      </m:r>
                      <m:r>
                        <m:rPr>
                          <m:sty m:val="p"/>
                        </m:rPr>
                        <m:t>]</m:t>
                      </m:r>
                      <m:r>
                        <m:rPr>
                          <m:sty m:val="p"/>
                        </m:rPr>
                        <m:t>,</m:t>
                      </m:r>
                      <m:r>
                        <m:rPr>
                          <m:sty m:val="p"/>
                        </m:rPr>
                        <m:t>[</m:t>
                      </m:r>
                      <m:r>
                        <m:t>3.0</m:t>
                      </m:r>
                      <m:r>
                        <m:rPr>
                          <m:sty m:val="p"/>
                        </m:rPr>
                        <m:t>]</m:t>
                      </m:r>
                      <m:r>
                        <m:rPr>
                          <m:sty m:val="p"/>
                        </m:rPr>
                        <m:t>,</m:t>
                      </m:r>
                      <m:r>
                        <m:rPr>
                          <m:sty m:val="p"/>
                        </m:rPr>
                        <m:t>(</m:t>
                      </m:r>
                      <m:r>
                        <m:t>1</m:t>
                      </m:r>
                      <m:r>
                        <m:rPr>
                          <m:sty m:val="p"/>
                        </m:rPr>
                        <m:t>,</m:t>
                      </m:r>
                      <m:r>
                        <m:rPr>
                          <m:sty m:val="p"/>
                        </m:rPr>
                        <m:t>)</m:t>
                      </m:r>
                      <m:r>
                        <m:rPr>
                          <m:sty m:val="p"/>
                        </m:rPr>
                        <m:t>,</m:t>
                      </m:r>
                      <m:r>
                        <m:rPr>
                          <m:nor/>
                          <m:sty m:val="p"/>
                        </m:rPr>
                        <m:t>float32</m:t>
                      </m:r>
                      <m:r>
                        <m:rPr>
                          <m:sty m:val="p"/>
                        </m:rPr>
                        <m:t>)</m:t>
                      </m:r>
                    </m:oMath>
                  </m:oMathPara>
                </a14:m>
              </a:p>
              <a:p>
                <a:pPr lvl="0" indent="0" marL="0">
                  <a:buNone/>
                </a:pPr>
                <a:r>
                  <a:rPr/>
                  <a:t>The agent takes a one-dimensional continuous action (force applied to the cart).</a:t>
                </a:r>
              </a:p>
            </p:txBody>
          </p:sp>
        </mc:Choice>
      </mc:AlternateContent>
      <p:graphicFrame>
        <p:nvGraphicFramePr>
          <p:cNvPr id="6" name="Content Placeholder 5"/>
          <p:cNvGraphicFramePr>
            <a:graphicFrameLocks noGrp="1"/>
          </p:cNvGraphicFramePr>
          <p:nvPr>
            <p:ph idx="1"/>
          </p:nvPr>
        </p:nvGraphicFramePr>
        <p:xfrm>
          <a:off x="3568700" y="203200"/>
          <a:ext cx="5105400" cy="3873500"/>
        </p:xfrm>
        <a:graphic>
          <a:graphicData uri="http://schemas.openxmlformats.org/drawingml/2006/table">
            <a:tbl>
              <a:tblPr firstRow="1" bandRow="1">
                <a:tableStyleId>{5C22544A-7EE6-4342-B048-85BDC9FD1C3A}</a:tableStyleId>
              </a:tblPr>
              <a:tblGrid>
                <a:gridCol w="723900"/>
                <a:gridCol w="723900"/>
                <a:gridCol w="723900"/>
                <a:gridCol w="723900"/>
                <a:gridCol w="723900"/>
                <a:gridCol w="723900"/>
                <a:gridCol w="723900"/>
              </a:tblGrid>
              <a:tr h="0">
                <a:tc>
                  <a:txBody>
                    <a:bodyPr/>
                    <a:lstStyle/>
                    <a:p>
                      <a:pPr lvl="0" indent="0" marL="0" algn="ctr">
                        <a:buNone/>
                      </a:pPr>
                      <a:r>
                        <a:rPr/>
                        <a:t>Num</a:t>
                      </a:r>
                    </a:p>
                  </a:txBody>
                  <a:tcPr/>
                </a:tc>
                <a:tc>
                  <a:txBody>
                    <a:bodyPr/>
                    <a:lstStyle/>
                    <a:p>
                      <a:pPr lvl="0" indent="0" marL="0" algn="ctr">
                        <a:buNone/>
                      </a:pPr>
                      <a:r>
                        <a:rPr/>
                        <a:t>Action</a:t>
                      </a:r>
                    </a:p>
                  </a:txBody>
                  <a:tcPr/>
                </a:tc>
                <a:tc>
                  <a:txBody>
                    <a:bodyPr/>
                    <a:lstStyle/>
                    <a:p>
                      <a:pPr lvl="0" indent="0" marL="0" algn="ctr">
                        <a:buNone/>
                      </a:pPr>
                      <a:r>
                        <a:rPr/>
                        <a:t>Control Min</a:t>
                      </a:r>
                    </a:p>
                  </a:txBody>
                  <a:tcPr/>
                </a:tc>
                <a:tc>
                  <a:txBody>
                    <a:bodyPr/>
                    <a:lstStyle/>
                    <a:p>
                      <a:pPr lvl="0" indent="0" marL="0" algn="ctr">
                        <a:buNone/>
                      </a:pPr>
                      <a:r>
                        <a:rPr/>
                        <a:t>Control Max</a:t>
                      </a:r>
                    </a:p>
                  </a:txBody>
                  <a:tcPr/>
                </a:tc>
                <a:tc>
                  <a:txBody>
                    <a:bodyPr/>
                    <a:lstStyle/>
                    <a:p>
                      <a:pPr lvl="0" indent="0" marL="0" algn="ctr">
                        <a:buNone/>
                      </a:pPr>
                      <a:r>
                        <a:rPr/>
                        <a:t>Name</a:t>
                      </a:r>
                    </a:p>
                  </a:txBody>
                  <a:tcPr/>
                </a:tc>
                <a:tc>
                  <a:txBody>
                    <a:bodyPr/>
                    <a:lstStyle/>
                    <a:p>
                      <a:pPr lvl="0" indent="0" marL="0" algn="ctr">
                        <a:buNone/>
                      </a:pPr>
                      <a:r>
                        <a:rPr/>
                        <a:t>Joint</a:t>
                      </a:r>
                    </a:p>
                  </a:txBody>
                  <a:tcPr/>
                </a:tc>
                <a:tc>
                  <a:txBody>
                    <a:bodyPr/>
                    <a:lstStyle/>
                    <a:p>
                      <a:pPr lvl="0" indent="0" marL="0" algn="ctr">
                        <a:buNone/>
                      </a:pPr>
                      <a:r>
                        <a:rPr/>
                        <a:t>Type (Unit)</a:t>
                      </a:r>
                    </a:p>
                  </a:txBody>
                  <a:tcPr/>
                </a:tc>
              </a:tr>
              <a:tr h="0">
                <a:tc>
                  <a:txBody>
                    <a:bodyPr/>
                    <a:lstStyle/>
                    <a:p>
                      <a:pPr lvl="0" indent="0" marL="0" algn="ctr">
                        <a:buNone/>
                      </a:pPr>
                      <a:r>
                        <a:rPr/>
                        <a:t>0</a:t>
                      </a:r>
                    </a:p>
                  </a:txBody>
                </a:tc>
                <a:tc>
                  <a:txBody>
                    <a:bodyPr/>
                    <a:lstStyle/>
                    <a:p>
                      <a:pPr lvl="0" indent="0" marL="0" algn="ctr">
                        <a:buNone/>
                      </a:pPr>
                      <a:r>
                        <a:rPr/>
                        <a:t>Force on cart</a:t>
                      </a:r>
                    </a:p>
                  </a:txBody>
                </a:tc>
                <a:tc>
                  <a:txBody>
                    <a:bodyPr/>
                    <a:lstStyle/>
                    <a:p>
                      <a:pPr lvl="0" indent="0" marL="0" algn="ctr">
                        <a:buNone/>
                      </a:pPr>
                      <a:r>
                        <a:rPr/>
                        <a:t>-3</a:t>
                      </a:r>
                    </a:p>
                  </a:txBody>
                </a:tc>
                <a:tc>
                  <a:txBody>
                    <a:bodyPr/>
                    <a:lstStyle/>
                    <a:p>
                      <a:pPr lvl="0" indent="0" marL="0" algn="ctr">
                        <a:buNone/>
                      </a:pPr>
                      <a:r>
                        <a:rPr/>
                        <a:t>3</a:t>
                      </a:r>
                    </a:p>
                  </a:txBody>
                </a:tc>
                <a:tc>
                  <a:txBody>
                    <a:bodyPr/>
                    <a:lstStyle/>
                    <a:p>
                      <a:pPr lvl="0" indent="0" marL="0" algn="ctr">
                        <a:buNone/>
                      </a:pPr>
                      <a:r>
                        <a:rPr/>
                        <a:t>slider</a:t>
                      </a:r>
                    </a:p>
                  </a:txBody>
                </a:tc>
                <a:tc>
                  <a:txBody>
                    <a:bodyPr/>
                    <a:lstStyle/>
                    <a:p>
                      <a:pPr lvl="0" indent="0" marL="0" algn="ctr">
                        <a:buNone/>
                      </a:pPr>
                      <a:r>
                        <a:rPr/>
                        <a:t>slide</a:t>
                      </a:r>
                    </a:p>
                  </a:txBody>
                </a:tc>
                <a:tc>
                  <a:txBody>
                    <a:bodyPr/>
                    <a:lstStyle/>
                    <a:p>
                      <a:pPr lvl="0" indent="0" marL="0" algn="ctr">
                        <a:buNone/>
                      </a:pPr>
                      <a:r>
                        <a:rPr/>
                        <a:t>Force (N)</a:t>
                      </a:r>
                    </a:p>
                  </a:txBody>
                </a:tc>
              </a:tr>
            </a:tbl>
          </a:graphicData>
        </a:graphic>
      </p:graphicFrame>
      <p:sp>
        <p:nvSpPr>
          <p:cNvPr id="1" name="TextBox 3"/>
          <p:cNvSpPr txBox="1"/>
          <p:nvPr>
            <p:ph idx="1"/>
          </p:nvPr>
        </p:nvSpPr>
        <p:spPr>
          <a:xfrm>
            <a:off x="3568700" y="4076700"/>
            <a:ext cx="5105400" cy="508000"/>
          </a:xfrm>
          <a:prstGeom prst="rect">
            <a:avLst/>
          </a:prstGeom>
          <a:noFill/>
        </p:spPr>
        <p:txBody>
          <a:bodyPr/>
          <a:lstStyle/>
          <a:p>
            <a:pPr lvl="0" indent="0" marL="0" algn="ctr">
              <a:buNone/>
            </a:pPr>
            <a:r>
              <a:rPr/>
              <a:t>Action space specification of InvertedPendulum-v5.</a:t>
            </a:r>
          </a:p>
        </p:txBody>
      </p:sp>
    </p:spTree>
  </p:cSld>
</p:sld>
</file>

<file path=ppt/slides/slide6.xml><?xml version="1.0" encoding="UTF-8"?><p:sld xmlns:a="http://schemas.openxmlformats.org/drawingml/2006/main" xmlns:r="http://schemas.openxmlformats.org/officeDocument/2006/relationships" xmlns:p="http://schemas.openxmlformats.org/presentationml/2006/main"><p:cSld><p:spTree><p:nvGrpSpPr><p:cNvPr id="1" name="" /><p:cNvGrpSpPr /><p:nvPr /></p:nvGrpSpPr><p:grpSpPr><a:xfrm><a:off x="0" y="0" /><a:ext cx="0" cy="0" /><a:chOff x="0" y="0" /><a:chExt cx="0" cy="0" /></a:xfrm></p:grpSpPr><mc:AlternateContent xmlns:mc="http://schemas.openxmlformats.org/markup-compatibility/2006"><mc:Choice xmlns:a14="http://schemas.microsoft.com/office/drawing/2010/main" Requires="a14"><p:sp><p:nvSpPr><p:cNvPr id="4" name="Text Placeholder 3" /><p:cNvSpPr><a:spLocks noGrp="1" /></p:cNvSpPr><p:nvPr><p:ph idx="2" sz="half" type="body" /></p:nvPr></p:nvSpPr><p:spPr /><p:txBody><a:bodyPr /><a:lstStyle /><a:p><a:pPr lvl="0" indent="0" marL="0"><a:spcBef><a:spcPts val="3000" /></a:spcBef><a:buNone /></a:pPr><a:r><a:rPr b="1" /><a:t>Observation Space</a:t></a:r></a:p><a:p><a:pPr lvl="0" indent="0" marL="0"><a:buNone /></a:pPr><a:r><a:rPr /><a:t>The observation space is a 4-dimensional vector:</a:t></a:r></a:p><a:p><a:pPr lvl="0" indent="0" marL="0"><a:buNone /></a:pPr><a14:m><m:oMathPara xmlns:m="http://schemas.openxmlformats.org/officeDocument/2006/math"><m:oMathParaPr><m:jc m:val="center" /></m:oMathParaPr><m:oMath><m:r><m:rPr><m:nor /><m:sty m:val="p" /></m:rPr><m:t>Box</m:t></m:r><m:r><m:rPr><m:sty m:val="p" /></m:rPr><m:t>(</m:t></m:r><m:r><m:rPr><m:sty m:val="p" /></m:rPr><m:t>−</m:t></m:r><m:r><m:rPr><m:sty m:val="p" /></m:rPr><m:t>∞</m:t></m:r><m:r><m:rPr><m:sty m:val="p" /></m:rPr><m:t>,</m:t></m:r><m:r><m:rPr><m:sty m:val="p" /></m:rPr><m:t>∞</m:t></m:r><m:r><m:rPr><m:sty m:val="p" /></m:rPr><m:t>,</m:t></m:r><m:r><m:rPr><m:sty m:val="p" /></m:rPr><m:t>(</m:t></m:r><m:r><m:t>4</m:t></m:r><m:r><m:rPr><m:sty m:val="p" /></m:rPr><m:t>,</m:t></m:r><m:r><m:rPr><m:sty m:val="p" /></m:rPr><m:t>)</m:t></m:r><m:r><m:rPr><m:sty m:val="p" /></m:rPr><m:t>,</m:t></m:r><m:r><m:rPr><m:nor /><m:sty m:val="p" /></m:rPr><m:t>float64</m:t></m:r><m:r><m:rPr><m:sty m:val="p" /></m:rPr><m:t>)</m:t></m:r></m:oMath></m:oMathPara></a14:m></a:p><a:p><a:pPr lvl="0" indent="0" marL="0"><a:buNone /></a:pPr><a:r><a:rPr /><a:t>It consists of cart position/velocity and pole angle/angular velocity.</a:t></a:r></a:p></p:txBody></p:sp></mc:Choice></mc:AlternateContent><p:graphicFrame><p:nvGraphicFramePr><p:cNvPr id="6" name="Content Placeholder 5" /><p:cNvGraphicFramePr><a:graphicFrameLocks noGrp="1" /></p:cNvGraphicFramePr><p:nvPr><p:ph idx="1" /></p:nvPr></p:nvGraphicFramePr><p:xfrm><a:off x="3568700" y="203200" /><a:ext cx="5105400" cy="3873500" /></p:xfrm><a:graphic><a:graphicData uri="http://schemas.openxmlformats.org/drawingml/2006/table"><a:tbl><a:tblPr firstRow="1" bandRow="1"><a:tableStyleId>{5C22544A-7EE6-4342-B048-85BDC9FD1C3A}</a:tableStyleId></a:tblPr><a:tblGrid><a:gridCol w="723900" /><a:gridCol w="723900" /><a:gridCol w="723900" /><a:gridCol w="723900" /><a:gridCol w="723900" /><a:gridCol w="723900" /><a:gridCol w="723900" /></a:tblGrid><a:tr h="0"><a:tc><a:txBody><a:bodyPr /><a:lstStyle /><a:p><a:pPr lvl="0" indent="0" marL="0" algn="ctr"><a:buNone /></a:pPr><a:r><a:rPr /><a:t>Num</a:t></a:r></a:p></a:txBody><a:tcPr /></a:tc><a:tc><a:txBody><a:bodyPr /><a:lstStyle /><a:p><a:pPr lvl="0" indent="0" marL="0" algn="ctr"><a:buNone /></a:pPr><a:r><a:rPr /><a:t>Observation</a:t></a:r></a:p></a:txBody><a:tcPr /></a:tc><a:tc><a:txBody><a:bodyPr /><a:lstStyle /><a:p><a:pPr lvl="0" indent="0" marL="0" algn="ctr"><a:buNone /></a:pPr><a:r><a:rPr /><a:t>Min</a:t></a:r></a:p></a:txBody><a:tcPr /></a:tc><a:tc><a:txBody><a:bodyPr /><a:lstStyle /><a:p><a:pPr lvl="0" indent="0" marL="0" algn="ctr"><a:buNone /></a:pPr><a:r><a:rPr /><a:t>Max</a:t></a:r></a:p></a:txBody><a:tcPr /></a:tc><a:tc><a:txBody><a:bodyPr /><a:lstStyle /><a:p><a:pPr lvl="0" indent="0" marL="0" algn="ctr"><a:buNone /></a:pPr><a:r><a:rPr /><a:t>Name</a:t></a:r></a:p></a:txBody><a:tcPr /></a:tc><a:tc><a:txBody><a:bodyPr /><a:lstStyle /><a:p><a:pPr lvl="0" indent="0" marL="0" algn="ctr"><a:buNone /></a:pPr><a:r><a:rPr /><a:t>Joint</a:t></a:r></a:p></a:txBody><a:tcPr /></a:tc><a:tc><a:txBody><a:bodyPr /><a:lstStyle /><a:p><a:pPr lvl="0" indent="0" marL="0" algn="ctr"><a:buNone /></a:pPr><a:r><a:rPr /><a:t>Type (Unit)</a:t></a:r></a:p></a:txBody><a:tcPr /></a:tc></a:tr><a:tr h="0"><a:tc><a:txBody><a:bodyPr /><a:lstStyle /><a:p><a:pPr lvl="0" indent="0" marL="0" algn="ctr"><a:buNone /></a:pPr><a:r><a:rPr /><a:t>0</a:t></a:r></a:p></a:txBody></a:tc><a:tc><a:txBody><a:bodyPr /><a:lstStyle /><a:p><a:pPr lvl="0" indent="0" marL="0" algn="ctr"><a:buNone /></a:pPr><a:r><a:rPr /><a:t>Cart position</a:t></a:r></a:p></a:txBody></a:tc><a:tc><a:txBody><a:bodyPr /><a:lstStyle /><a:p><a:pPr lvl="0" indent="0" marL="0" algn="ctr"><a:buNone /></a:pPr><a14:m><m:oMath xmlns:m="http://schemas.openxmlformats.org/officeDocument/2006/math"><m:r><m:rPr><m:sty m:val="p" /></m:rPr><m:t>−</m:t></m:r><m:r><m:rPr><m:sty m:val="p" /></m:rPr><m:t>∞</m:t></m:r></m:oMath></a14:m></a:p></a:txBody></a:tc><a:tc><a:txBody><a:bodyPr /><a:lstStyle /><a:p><a:pPr lvl="0" indent="0" marL="0" algn="ctr"><a:buNone /></a:pPr><a14:m><m:oMath xmlns:m="http://schemas.openxmlformats.org/officeDocument/2006/math"><m:r><m:rPr><m:sty m:val="p" /></m:rPr><m:t>∞</m:t></m:r></m:oMath></a14:m></a:p></a:txBody></a:tc><a:tc><a:txBody><a:bodyPr /><a:lstStyle /><a:p><a:pPr lvl="0" indent="0" marL="0" algn="ctr"><a:buNone /></a:pPr><a:r><a:rPr /><a:t>slider</a:t></a:r></a:p></a:txBody></a:tc><a:tc><a:txBody><a:bodyPr /><a:lstStyle /><a:p><a:pPr lvl="0" indent="0" marL="0" algn="ctr"><a:buNone /></a:pPr><a:r><a:rPr /><a:t>slide</a:t></a:r></a:p></a:txBody></a:tc><a:tc><a:txBody><a:bodyPr /><a:lstStyle /><a:p><a:pPr lvl="0" indent="0" marL="0" algn="ctr"><a:buNone /></a:pPr><a:r><a:rPr /><a:t>position (m)</a:t></a:r></a:p></a:txBody></a:tc></a:tr><a:tr h="0"><a:tc><a:txBody><a:bodyPr /><a:lstStyle /><a:p><a:pPr lvl="0" indent="0" marL="0" algn="ctr"><a:buNone /></a:pPr><a:r><a:rPr /><a:t>1</a:t></a:r></a:p></a:txBody></a:tc><a:tc><a:txBody><a:bodyPr /><a:lstStyle /><a:p><a:pPr lvl="0" indent="0" marL="0" algn="ctr"><a:buNone /></a:pPr><a:r><a:rPr /><a:t>Pole angle</a:t></a:r></a:p></a:txBody></a:tc><a:tc><a:txBody><a:bodyPr /><a:lstStyle /><a:p><a:pPr lvl="0" indent="0" marL="0" algn="ctr"><a:buNone /></a:pPr><a14:m><m:oMath xmlns:m="http://schemas.openxmlformats.org/officeDocument/2006/math"><m:r><m:rPr><m:sty m:val="p" /></m:rPr><m:t>−</m:t></m:r><m:r><m:rPr><m:sty m:val="p" /></m:rPr><m:t>∞</m:t></m:r></m:oMath></a14:m></a:p></a:txBody></a:tc><a:tc><a:txBody><a:bodyPr /><a:lstStyle /><a:p><a:pPr lvl="0" indent="0" marL="0" algn="ctr"><a:buNone /></a:pPr><a14:m><m:oMath xmlns:m="http://schemas.openxmlformats.org/officeDocument/2006/math"><m:r><m:rPr><m:sty m:val="p" /></m:rPr><m:t>∞</m:t></m:r></m:oMath></a14:m></a:p></a:txBody></a:tc><a:tc><a:txBody><a:bodyPr /><a:lstStyle /><a:p><a:pPr lvl="0" indent="0" marL="0" algn="ctr"><a:buNone /></a:pPr><a:r><a:rPr /><a:t>hinge</a:t></a:r></a:p></a:txBody></a:tc><a:tc><a:txBody><a:bodyPr /><a:lstStyle /><a:p><a:pPr lvl="0" indent="0" marL="0" algn="ctr"><a:buNone /></a:pPr><a:r><a:rPr /><a:t>hinge</a:t></a:r></a:p></a:txBody></a:tc><a:tc><a:txBody><a:bodyPr /><a:lstStyle /><a:p><a:pPr lvl="0" indent="0" marL="0" algn="ctr"><a:buNone /></a:pPr><a:r><a:rPr /><a:t>angle (rad)</a:t></a:r></a:p></a:txBody></a:tc></a:tr><a:tr h="0"><a:tc><a:txBody><a:bodyPr /><a:lstStyle /><a:p><a:pPr lvl="0" indent="0" marL="0" algn="ctr"><a:buNone /></a:pPr><a:r><a:rPr /><a:t>2</a:t></a:r></a:p></a:txBody></a:tc><a:tc><a:txBody><a:bodyPr /><a:lstStyle /><a:p><a:pPr lvl="0" indent="0" marL="0" algn="ctr"><a:buNone /></a:pPr><a:r><a:rPr /><a:t>Cart velocity</a:t></a:r></a:p></a:txBody></a:tc><a:tc><a:txBody><a:bodyPr /><a:lstStyle /><a:p><a:pPr lvl="0" indent="0" marL="0" algn="ctr"><a:buNone /></a:pPr><a14:m><m:oMath xmlns:m="http://schemas.openxmlformats.org/officeDocument/2006/math"><m:r><m:rPr><m:sty m:val="p" /></m:rPr><m:t>−</m:t></m:r><m:r><m:rPr><m:sty m:val="p" /></m:rPr><m:t>∞</m:t></m:r></m:oMath></a14:m></a:p></a:txBody></a:tc><a:tc><a:txBody><a:bodyPr /><a:lstStyle /><a:p><a:pPr lvl="0" indent="0" marL="0" algn="ctr"><a:buNone /></a:pPr><a14:m><m:oMath xmlns:m="http://schemas.openxmlformats.org/officeDocument/2006/math"><m:r><m:rPr><m:sty m:val="p" /></m:rPr><m:t>∞</m:t></m:r></m:oMath></a14:m></a:p></a:txBody></a:tc><a:tc><a:txBody><a:bodyPr /><a:lstStyle /><a:p><a:pPr lvl="0" indent="0" marL="0" algn="ctr"><a:buNone /></a:pPr><a:r><a:rPr /><a:t>slider</a:t></a:r></a:p></a:txBody></a:tc><a:tc><a:txBody><a:bodyPr /><a:lstStyle /><a:p><a:pPr lvl="0" indent="0" marL="0" algn="ctr"><a:buNone /></a:pPr><a:r><a:rPr /><a:t>slide</a:t></a:r></a:p></a:txBody></a:tc><a:tc><a:txBody><a:bodyPr /><a:lstStyle /><a:p><a:pPr lvl="0" indent="0" marL="0" algn="ctr"><a:buNone /></a:pPr><a:r><a:rPr /><a:t>velocity (m/s)</a:t></a:r></a:p></a:txBody></a:tc></a:tr><a:tr h="0"><a:tc><a:txBody><a:bodyPr /><a:lstStyle /><a:p><a:pPr lvl="0" indent="0" marL="0" algn="ctr"><a:buNone /></a:pPr><a:r><a:rPr /><a:t>3</a:t></a:r></a:p></a:txBody></a:tc><a:tc><a:txBody><a:bodyPr /><a:lstStyle /><a:p><a:pPr lvl="0" indent="0" marL="0" algn="ctr"><a:buNone /></a:pPr><a:r><a:rPr /><a:t>Pole angular velocity</a:t></a:r></a:p></a:txBody></a:tc><a:tc><a:txBody><a:bodyPr /><a:lstStyle /><a:p><a:pPr lvl="0" indent="0" marL="0" algn="ctr"><a:buNone /></a:pPr><a14:m><m:oMath xmlns:m="http://schemas.openxmlformats.org/officeDocument/2006/math"><m:r><m:rPr><m:sty m:val="p" /></m:rPr><m:t>−</m:t></m:r><m:r><m:rPr><m:sty m:val="p" /></m:rPr><m:t>∞</m:t></m:r></m:oMath></a14:m></a:p></a:txBody></a:tc><a:tc><a:txBody><a:bodyPr /><a:lstStyle /><a:p><a:pPr lvl="0" indent="0" marL="0" algn="ctr"><a:buNone /></a:pPr><a14:m><m:oMath xmlns:m="http://schemas.openxmlformats.org/officeDocument/2006/math"><m:r><m:rPr><m:sty m:val="p" /></m:rPr><m:t>∞</m:t></m:r></m:oMath></a14:m></a:p></a:txBody></a:tc><a:tc><a:txBody><a:bodyPr /><a:lstStyle /><a:p><a:pPr lvl="0" indent="0" marL="0" algn="ctr"><a:buNone /></a:pPr><a:r><a:rPr /><a:t>hinge</a:t></a:r></a:p></a:txBody></a:tc><a:tc><a:txBody><a:bodyPr /><a:lstStyle /><a:p><a:pPr lvl="0" indent="0" marL="0" algn="ctr"><a:buNone /></a:pPr><a:r><a:rPr /><a:t>hinge</a:t></a:r></a:p></a:txBody></a:tc><a:tc><a:txBody><a:bodyPr /><a:lstStyle /><a:p><a:pPr lvl="0" indent="0" marL="0" algn="ctr"><a:buNone /></a:pPr><a:r><a:rPr /><a:t>angular velocity (rad/s)</a:t></a:r></a:p></a:txBody></a:tc></a:tr></a:tbl></a:graphicData></a:graphic></p:graphicFrame><p:sp><p:nvSpPr><p:cNvPr id="1" name="TextBox 3" /><p:cNvSpPr txBox="1" /><p:nvPr><p:ph idx="1" /></p:nvPr></p:nvSpPr><p:spPr><a:xfrm><a:off x="3568700" y="4076700" /><a:ext cx="5105400" cy="508000" /></a:xfrm><a:prstGeom prst="rect"><a:avLst /></a:prstGeom><a:noFill /></p:spPr><p:txBody><a:bodyPr /><a:lstStyle /><a:p><a:pPr lvl="0" indent="0" marL="0" algn="ctr"><a:buNone /></a:pPr><a:r><a:rPr /><a:t>Observation space specification of InvertedPendulum-v5.</a:t></a:r></a:p></p:txBody></p:sp></p:spTree></p:cSld></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4" name="Text Placeholder 3"/>
              <p:cNvSpPr>
                <a:spLocks noGrp="1"/>
              </p:cNvSpPr>
              <p:nvPr>
                <p:ph idx="2" sz="half" type="body"/>
              </p:nvPr>
            </p:nvSpPr>
            <p:spPr/>
            <p:txBody>
              <a:bodyPr/>
              <a:lstStyle/>
              <a:p>
                <a:pPr lvl="0" indent="0" marL="0">
                  <a:spcBef>
                    <a:spcPts val="3000"/>
                  </a:spcBef>
                  <a:buNone/>
                </a:pPr>
                <a:r>
                  <a:rPr b="1"/>
                  <a:t>Rewards</a:t>
                </a:r>
              </a:p>
              <a:p>
                <a:pPr lvl="0" indent="0" marL="0">
                  <a:buNone/>
                </a:pPr>
                <a:r>
                  <a:rPr/>
                  <a:t>A reward of </a:t>
                </a:r>
                <a14:m>
                  <m:oMath xmlns:m="http://schemas.openxmlformats.org/officeDocument/2006/math">
                    <m:r>
                      <m:rPr>
                        <m:sty m:val="p"/>
                      </m:rPr>
                      <m:t>+</m:t>
                    </m:r>
                    <m:r>
                      <m:t>1</m:t>
                    </m:r>
                  </m:oMath>
                </a14:m>
                <a:r>
                  <a:rPr/>
                  <a:t> is given for each timestep that the pole remains upright (within an angle limit).</a:t>
                </a:r>
              </a:p>
              <a:p>
                <a:pPr lvl="0" indent="0" marL="0">
                  <a:spcBef>
                    <a:spcPts val="3000"/>
                  </a:spcBef>
                  <a:buNone/>
                </a:pPr>
                <a:r>
                  <a:rPr b="1"/>
                  <a:t>Starting State</a:t>
                </a:r>
              </a:p>
              <a:p>
                <a:pPr lvl="0" indent="0" marL="0">
                  <a:buNone/>
                </a:pPr>
                <a:r>
                  <a:rPr/>
                  <a:t>The initial state (position and velocity) is sampled from a multivariate uniform continuous distribution, perturbed by random noise.</a:t>
                </a:r>
              </a:p>
              <a:p>
                <a:pPr lvl="0" indent="0" marL="0">
                  <a:spcBef>
                    <a:spcPts val="3000"/>
                  </a:spcBef>
                  <a:buNone/>
                </a:pPr>
                <a:r>
                  <a:rPr b="1"/>
                  <a:t>Episode End</a:t>
                </a:r>
              </a:p>
              <a:p>
                <a:pPr lvl="0"/>
                <a:r>
                  <a:rPr b="1"/>
                  <a:t>Termination:</a:t>
                </a:r>
                <a:r>
                  <a:rPr/>
                  <a:t> Episode terminates if:</a:t>
                </a:r>
              </a:p>
              <a:p>
                <a:pPr lvl="1"/>
                <a:r>
                  <a:rPr/>
                  <a:t>Any state value is non-finite.</a:t>
                </a:r>
              </a:p>
              <a:p>
                <a:pPr lvl="1"/>
                <a:r>
                  <a:rPr/>
                  <a:t>The absolute pole angle </a:t>
                </a:r>
                <a14:m>
                  <m:oMath xmlns:m="http://schemas.openxmlformats.org/officeDocument/2006/math">
                    <m:r>
                      <m:rPr>
                        <m:sty m:val="p"/>
                      </m:rPr>
                      <m:t>|</m:t>
                    </m:r>
                    <m:r>
                      <m:t>θ</m:t>
                    </m:r>
                    <m:r>
                      <m:rPr>
                        <m:sty m:val="p"/>
                      </m:rPr>
                      <m:t>|</m:t>
                    </m:r>
                    <m:r>
                      <m:rPr>
                        <m:sty m:val="p"/>
                      </m:rPr>
                      <m:t>&gt;</m:t>
                    </m:r>
                    <m:r>
                      <m:t>0.2</m:t>
                    </m:r>
                  </m:oMath>
                </a14:m>
                <a:r>
                  <a:rPr/>
                  <a:t> radians.</a:t>
                </a:r>
              </a:p>
              <a:p>
                <a:pPr lvl="0"/>
                <a:r>
                  <a:rPr b="1"/>
                  <a:t>Truncation:</a:t>
                </a:r>
                <a:r>
                  <a:rPr/>
                  <a:t> Default maximum of 1000 timesteps.</a:t>
                </a:r>
              </a:p>
              <a:p>
                <a:pPr lvl="0" indent="0" marL="0">
                  <a:spcBef>
                    <a:spcPts val="3000"/>
                  </a:spcBef>
                  <a:buNone/>
                </a:pPr>
                <a:r>
                  <a:rPr b="1"/>
                  <a:t>Data Generation Code</a:t>
                </a:r>
              </a:p>
              <a:p>
                <a:pPr lvl="0" indent="0" marL="0">
                  <a:buNone/>
                </a:pPr>
                <a:r>
                  <a:rPr/>
                  <a:t>The Python code generates data from the </a:t>
                </a:r>
                <a:r>
                  <a:rPr>
                    <a:latin typeface="Courier"/>
                  </a:rPr>
                  <a:t>InvertedPendulum-v5</a:t>
                </a:r>
                <a:r>
                  <a:rPr/>
                  <a:t> environment using Gymnasium. It collects state transitions, actions, and rewards for further analysis.</a:t>
                </a:r>
              </a:p>
              <a:p>
                <a:pPr lvl="0" indent="0" marL="0">
                  <a:buNone/>
                </a:pPr>
                <a:r>
                  <a:rPr/>
                  <a:t>Here we are considering the agent to take completely random actions:</a:t>
                </a:r>
              </a:p>
              <a:p>
                <a:pPr lvl="0" indent="0" marL="0">
                  <a:buNone/>
                </a:pPr>
                <a:r>
                  <a:rPr b="1"/>
                  <a:t>Main goal:</a:t>
                </a:r>
                <a:r>
                  <a:rPr/>
                  <a:t> The script is for </a:t>
                </a:r>
                <a:r>
                  <a:rPr b="1"/>
                  <a:t>generating datasets</a:t>
                </a:r>
                <a:r>
                  <a:rPr/>
                  <a:t> the Inverted Pendulum system. It runs the simulation for 50 episodes and saves the detailed step-by-step results of each run into separate </a:t>
                </a:r>
                <a:r>
                  <a:rPr>
                    <a:latin typeface="Courier"/>
                  </a:rPr>
                  <a:t>.csv</a:t>
                </a:r>
                <a:r>
                  <a:rPr/>
                  <a:t> files. These datasets serve as a </a:t>
                </a:r>
                <a:r>
                  <a:rPr b="1"/>
                  <a:t>baseline performance</a:t>
                </a:r>
                <a:r>
                  <a:rPr/>
                  <a:t> for a random agent, which can later be used to evaluate the performance of a “smart” agent.</a:t>
                </a:r>
              </a:p>
              <a:p>
                <a:pPr lvl="0" indent="0" marL="0">
                  <a:spcBef>
                    <a:spcPts val="3000"/>
                  </a:spcBef>
                  <a:buNone/>
                </a:pPr>
                <a:r>
                  <a:rPr b="1"/>
                  <a:t>How the Code Works</a:t>
                </a:r>
              </a:p>
              <a:p>
                <a:pPr lvl="0" indent="0" marL="0">
                  <a:buNone/>
                </a:pPr>
                <a:r>
                  <a:rPr/>
                  <a:t>The script simulates an inverted pendulum by interacting with a </a:t>
                </a:r>
                <a:r>
                  <a:rPr>
                    <a:latin typeface="Courier"/>
                  </a:rPr>
                  <a:t>gym</a:t>
                </a:r>
                <a:r>
                  <a:rPr/>
                  <a:t> environment and collecting data. Its workflow is as follows:</a:t>
                </a:r>
              </a:p>
              <a:p>
                <a:pPr lvl="0" indent="-342900" marL="342900">
                  <a:buAutoNum type="arabicPeriod"/>
                </a:pPr>
                <a:r>
                  <a:rPr b="1"/>
                  <a:t>Environment Setup:</a:t>
                </a:r>
                <a:r>
                  <a:rPr/>
                  <a:t> The environment is created using </a:t>
                </a:r>
                <a:r>
                  <a:rPr>
                    <a:latin typeface="Courier"/>
                  </a:rPr>
                  <a:t>env = gym.make(...)</a:t>
                </a:r>
                <a:r>
                  <a:rPr/>
                  <a:t> and initialized with </a:t>
                </a:r>
                <a:r>
                  <a:rPr>
                    <a:latin typeface="Courier"/>
                  </a:rPr>
                  <a:t>env.reset()</a:t>
                </a:r>
                <a:r>
                  <a:rPr/>
                  <a:t>.</a:t>
                </a:r>
              </a:p>
              <a:p>
                <a:pPr lvl="0" indent="-342900" marL="342900">
                  <a:buAutoNum type="arabicPeriod"/>
                </a:pPr>
                <a:r>
                  <a:rPr b="1"/>
                  <a:t>Episode Loop:</a:t>
                </a:r>
                <a:r>
                  <a:rPr/>
                  <a:t> For each episode, the pendulum is simulated until it either falls (</a:t>
                </a:r>
                <a:r>
                  <a:rPr>
                    <a:latin typeface="Courier"/>
                  </a:rPr>
                  <a:t>terminated</a:t>
                </a:r>
                <a:r>
                  <a:rPr/>
                  <a:t>) or the time limit is reached (</a:t>
                </a:r>
                <a:r>
                  <a:rPr>
                    <a:latin typeface="Courier"/>
                  </a:rPr>
                  <a:t>truncated</a:t>
                </a:r>
                <a:r>
                  <a:rPr/>
                  <a:t>).</a:t>
                </a:r>
              </a:p>
              <a:p>
                <a:pPr lvl="0" indent="-342900" marL="342900">
                  <a:buAutoNum type="arabicPeriod"/>
                </a:pPr>
                <a:r>
                  <a:rPr b="1"/>
                  <a:t>Step Loop:</a:t>
                </a:r>
                <a:r>
                  <a:rPr/>
                  <a:t> Within each episode, random actions are generated (</a:t>
                </a:r>
                <a:r>
                  <a:rPr>
                    <a:latin typeface="Courier"/>
                  </a:rPr>
                  <a:t>env.action_space.sample()</a:t>
                </a:r>
                <a:r>
                  <a:rPr/>
                  <a:t>) and applied (</a:t>
                </a:r>
                <a:r>
                  <a:rPr>
                    <a:latin typeface="Courier"/>
                  </a:rPr>
                  <a:t>env.step(action)</a:t>
                </a:r>
                <a:r>
                  <a:rPr/>
                  <a:t>). The resulting next state, reward, and episode status are returned.</a:t>
                </a:r>
              </a:p>
              <a:p>
                <a:pPr lvl="0" indent="-342900" marL="342900">
                  <a:buAutoNum type="arabicPeriod"/>
                </a:pPr>
                <a:r>
                  <a:rPr b="1"/>
                  <a:t>Data Collection:</a:t>
                </a:r>
                <a:r>
                  <a:rPr/>
                  <a:t> At each step, the current state, chosen action, reward, next state, and termination flag are recorded in </a:t>
                </a:r>
                <a:r>
                  <a:rPr>
                    <a:latin typeface="Courier"/>
                  </a:rPr>
                  <a:t>collected_data</a:t>
                </a:r>
                <a:r>
                  <a:rPr/>
                  <a:t>. The current observation is updated accordingly.</a:t>
                </a:r>
              </a:p>
              <a:p>
                <a:pPr lvl="0" indent="-342900" marL="342900">
                  <a:buAutoNum type="arabicPeriod"/>
                </a:pPr>
                <a:r>
                  <a:rPr b="1"/>
                  <a:t>Cleanup:</a:t>
                </a:r>
                <a:r>
                  <a:rPr/>
                  <a:t> After all episodes, the environment is closed using </a:t>
                </a:r>
                <a:r>
                  <a:rPr>
                    <a:latin typeface="Courier"/>
                  </a:rPr>
                  <a:t>env.close()</a:t>
                </a:r>
                <a:r>
                  <a:rPr/>
                  <a:t>.</a:t>
                </a:r>
              </a:p>
              <a:p>
                <a:pPr lvl="0" indent="0" marL="0">
                  <a:spcBef>
                    <a:spcPts val="3000"/>
                  </a:spcBef>
                  <a:buNone/>
                </a:pPr>
                <a:r>
                  <a:rPr b="1"/>
                  <a:t>Analysis of Simulation Plots</a:t>
                </a:r>
              </a:p>
              <a:p>
                <a:pPr lvl="0" indent="0" marL="0">
                  <a:buNone/>
                </a:pPr>
                <a:r>
                  <a:rPr/>
                  <a:t>The following plots were generated for (</a:t>
                </a:r>
                <a14:m>
                  <m:oMath xmlns:m="http://schemas.openxmlformats.org/officeDocument/2006/math">
                    <m:r>
                      <m:t>N</m:t>
                    </m:r>
                    <m:r>
                      <m:rPr>
                        <m:sty m:val="p"/>
                      </m:rPr>
                      <m:t>=</m:t>
                    </m:r>
                    <m:r>
                      <m:t>50</m:t>
                    </m:r>
                  </m:oMath>
                </a14:m>
                <a:r>
                  <a:rPr/>
                  <a:t>) numbers of episodes . Each plot provides a different perspective on the behavior of the inverted pendulum under random actions.</a:t>
                </a:r>
              </a:p>
              <a:p>
                <a:pPr lvl="0" indent="0" marL="0">
                  <a:spcBef>
                    <a:spcPts val="3000"/>
                  </a:spcBef>
                  <a:buNone/>
                </a:pPr>
                <a:r>
                  <a:rPr b="1"/>
                  <a:t>Histogram of Episode Durations</a:t>
                </a:r>
              </a:p>
            </p:txBody>
          </p:sp>
        </mc:Choice>
      </mc:AlternateContent>
      <p:pic>
        <p:nvPicPr>
          <p:cNvPr descr="media/rId54.png" id="0" name="Picture 1"/>
          <p:cNvPicPr>
            <a:picLocks noGrp="1" noChangeAspect="1"/>
          </p:cNvPicPr>
          <p:nvPr/>
        </p:nvPicPr>
        <p:blipFill>
          <a:blip r:embed="rId2"/>
          <a:stretch>
            <a:fillRect/>
          </a:stretch>
        </p:blipFill>
        <p:spPr bwMode="auto">
          <a:xfrm>
            <a:off x="3568700" y="863600"/>
            <a:ext cx="5105400" cy="3060700"/>
          </a:xfrm>
          <a:prstGeom prst="rect">
            <a:avLst/>
          </a:prstGeom>
          <a:noFill/>
          <a:ln w="9525">
            <a:noFill/>
            <a:headEnd/>
            <a:tailEnd/>
          </a:ln>
        </p:spPr>
      </p:pic>
      <mc:AlternateContent xmlns:mc="http://schemas.openxmlformats.org/markup-compatibility/2006">
        <mc:Choice xmlns:a14="http://schemas.microsoft.com/office/drawing/2010/main" Requires="a14">
          <p:sp>
            <p:nvSpPr>
              <p:cNvPr id="3" name="Content Placeholder 2"/>
              <p:cNvSpPr>
                <a:spLocks noGrp="1"/>
              </p:cNvSpPr>
              <p:nvPr>
                <p:ph idx="1"/>
              </p:nvPr>
            </p:nvSpPr>
            <p:spPr/>
            <p:txBody>
              <a:bodyPr/>
              <a:lstStyle/>
              <a:p>
                <a:pPr lvl="0" indent="0" marL="0">
                  <a:buNone/>
                </a:pPr>
                <a:r>
                  <a:rPr/>
                  <a:t>This plot serves as the main performance indicator, showing how successful the random agent was at balancing the pole.</a:t>
                </a:r>
              </a:p>
              <a:p>
                <a:pPr lvl="0"/>
                <a:r>
                  <a:rPr b="1"/>
                  <a:t>X-axis</a:t>
                </a:r>
                <a:r>
                  <a:rPr/>
                  <a:t>: Episode duration (number of steps).</a:t>
                </a:r>
              </a:p>
              <a:p>
                <a:pPr lvl="0"/>
                <a:r>
                  <a:rPr b="1"/>
                  <a:t>Y-axis</a:t>
                </a:r>
                <a:r>
                  <a:rPr/>
                  <a:t>: Frequency of episodes with that duration.</a:t>
                </a:r>
              </a:p>
              <a:p>
                <a:pPr lvl="0"/>
                <a:r>
                  <a:rPr b="1"/>
                  <a:t>Interpretation</a:t>
                </a:r>
                <a:r>
                  <a:rPr/>
                  <a:t>: For a random agent, the distribution is typically skewed to the left, meaning most episodes are very short. A few “lucky” runs may last longer, forming a long right tail. With larger </a:t>
                </a:r>
                <a14:m>
                  <m:oMath xmlns:m="http://schemas.openxmlformats.org/officeDocument/2006/math">
                    <m:r>
                      <m:t>N</m:t>
                    </m:r>
                  </m:oMath>
                </a14:m>
                <a:r>
                  <a:rPr/>
                  <a:t>, the histogram gives a more reliable picture of performance.</a:t>
                </a:r>
              </a:p>
              <a:p>
                <a:pPr lvl="0"/>
                <a:r>
                  <a:rPr b="1"/>
                  <a:t>Insight:</a:t>
                </a:r>
                <a:r>
                  <a:rPr/>
                  <a:t> This confirms that the agent’s performance is consistently poor, failing almost immediately in most attempts.</a:t>
                </a:r>
              </a:p>
              <a:p>
                <a:pPr lvl="0" indent="0" marL="0">
                  <a:spcBef>
                    <a:spcPts val="3000"/>
                  </a:spcBef>
                  <a:buNone/>
                </a:pPr>
                <a:r>
                  <a:rPr b="1"/>
                  <a:t>Phase Plot: Pole Angle vs. Angular Velocity</a:t>
                </a:r>
              </a:p>
            </p:txBody>
          </p:sp>
        </mc:Choice>
      </mc:AlternateContent>
      <p:pic>
        <p:nvPicPr>
          <p:cNvPr descr="media/rId59.png" id="0" name="Picture 1"/>
          <p:cNvPicPr>
            <a:picLocks noGrp="1" noChangeAspect="1"/>
          </p:cNvPicPr>
          <p:nvPr/>
        </p:nvPicPr>
        <p:blipFill>
          <a:blip r:embed="rId3"/>
          <a:stretch>
            <a:fillRect/>
          </a:stretch>
        </p:blipFill>
        <p:spPr bwMode="auto">
          <a:xfrm>
            <a:off x="3568700" y="863600"/>
            <a:ext cx="5105400" cy="3060700"/>
          </a:xfrm>
          <a:prstGeom prst="rect">
            <a:avLst/>
          </a:prstGeom>
          <a:noFill/>
          <a:ln w="9525">
            <a:noFill/>
            <a:headEnd/>
            <a:tailEnd/>
          </a:ln>
        </p:spPr>
      </p:pic>
      <mc:AlternateContent xmlns:mc="http://schemas.openxmlformats.org/markup-compatibility/2006">
        <mc:Choice xmlns:a14="http://schemas.microsoft.com/office/drawing/2010/main" Requires="a14">
          <p:sp>
            <p:nvSpPr>
              <p:cNvPr id="3" name="Content Placeholder 2"/>
              <p:cNvSpPr>
                <a:spLocks noGrp="1"/>
              </p:cNvSpPr>
              <p:nvPr>
                <p:ph idx="1"/>
              </p:nvPr>
            </p:nvSpPr>
            <p:spPr/>
            <p:txBody>
              <a:bodyPr/>
              <a:lstStyle/>
              <a:p>
                <a:pPr lvl="0" indent="0" marL="0">
                  <a:buNone/>
                </a:pPr>
                <a:r>
                  <a:rPr/>
                  <a:t>This phase-space plot captures the underlying physical dynamics of the pendulum.</a:t>
                </a:r>
              </a:p>
              <a:p>
                <a:pPr lvl="0"/>
                <a:r>
                  <a:rPr b="1"/>
                  <a:t>X-axis</a:t>
                </a:r>
                <a:r>
                  <a:rPr/>
                  <a:t>: Pole angle (radians), where </a:t>
                </a:r>
                <a14:m>
                  <m:oMath xmlns:m="http://schemas.openxmlformats.org/officeDocument/2006/math">
                    <m:r>
                      <m:t>0</m:t>
                    </m:r>
                  </m:oMath>
                </a14:m>
                <a:r>
                  <a:rPr/>
                  <a:t> is upright.</a:t>
                </a:r>
              </a:p>
              <a:p>
                <a:pPr lvl="0"/>
                <a:r>
                  <a:rPr b="1"/>
                  <a:t>Y-axis</a:t>
                </a:r>
                <a:r>
                  <a:rPr/>
                  <a:t>: Angular velocity of the pole (rad/s).</a:t>
                </a:r>
              </a:p>
              <a:p>
                <a:pPr lvl="0"/>
                <a:r>
                  <a:rPr b="1"/>
                  <a:t>Interpretation</a:t>
                </a:r>
                <a:r>
                  <a:rPr/>
                  <a:t>: Each point represents the system state at a particular timestep. The goal state is </a:t>
                </a:r>
                <a14:m>
                  <m:oMath xmlns:m="http://schemas.openxmlformats.org/officeDocument/2006/math">
                    <m:r>
                      <m:rPr>
                        <m:sty m:val="p"/>
                      </m:rPr>
                      <m:t>(</m:t>
                    </m:r>
                    <m:r>
                      <m:t>0</m:t>
                    </m:r>
                    <m:r>
                      <m:rPr>
                        <m:sty m:val="p"/>
                      </m:rPr>
                      <m:t>,</m:t>
                    </m:r>
                    <m:r>
                      <m:t>0</m:t>
                    </m:r>
                    <m:r>
                      <m:rPr>
                        <m:sty m:val="p"/>
                      </m:rPr>
                      <m:t>)</m:t>
                    </m:r>
                  </m:oMath>
                </a14:m>
                <a:r>
                  <a:rPr/>
                  <a:t>, meaning upright and motionless. For a random policy, the points typically spread outward from the center, reflecting that once the pole starts to fall, its angular velocity grows quickly, leading to failure.</a:t>
                </a:r>
              </a:p>
              <a:p>
                <a:pPr lvl="0"/>
                <a:r>
                  <a:rPr b="1"/>
                  <a:t>Insight:</a:t>
                </a:r>
                <a:r>
                  <a:rPr/>
                  <a:t> This illustrates the inherent instability of the inverted pendulum. Random actions cannot restore the system state back toward the stable center.</a:t>
                </a:r>
              </a:p>
              <a:p>
                <a:pPr lvl="0" indent="0" marL="0">
                  <a:spcBef>
                    <a:spcPts val="3000"/>
                  </a:spcBef>
                  <a:buNone/>
                </a:pPr>
                <a:r>
                  <a:rPr b="1"/>
                  <a:t>Time Series of the Longest Episode</a:t>
                </a:r>
              </a:p>
            </p:txBody>
          </p:sp>
        </mc:Choice>
      </mc:AlternateContent>
      <p:pic>
        <p:nvPicPr>
          <p:cNvPr descr="media/rId64.png" id="0" name="Picture 1"/>
          <p:cNvPicPr>
            <a:picLocks noGrp="1" noChangeAspect="1"/>
          </p:cNvPicPr>
          <p:nvPr/>
        </p:nvPicPr>
        <p:blipFill>
          <a:blip r:embed="rId4"/>
          <a:stretch>
            <a:fillRect/>
          </a:stretch>
        </p:blipFill>
        <p:spPr bwMode="auto">
          <a:xfrm>
            <a:off x="3568700" y="939800"/>
            <a:ext cx="5105400" cy="2921000"/>
          </a:xfrm>
          <a:prstGeom prst="rect">
            <a:avLst/>
          </a:prstGeom>
          <a:noFill/>
          <a:ln w="9525">
            <a:noFill/>
            <a:headEnd/>
            <a:tailEnd/>
          </a:ln>
        </p:spPr>
      </p:pic>
      <p:sp>
        <p:nvSpPr>
          <p:cNvPr id="3" name="Content Placeholder 2"/>
          <p:cNvSpPr>
            <a:spLocks noGrp="1"/>
          </p:cNvSpPr>
          <p:nvPr>
            <p:ph idx="1"/>
          </p:nvPr>
        </p:nvSpPr>
        <p:spPr/>
        <p:txBody>
          <a:bodyPr/>
          <a:lstStyle/>
          <a:p>
            <a:pPr lvl="0" indent="0" marL="0">
              <a:buNone/>
            </a:pPr>
            <a:r>
              <a:rPr/>
              <a:t>This plot highlights the trajectory of the </a:t>
            </a:r>
            <a:r>
              <a:rPr i="1"/>
              <a:t>most successful</a:t>
            </a:r>
            <a:r>
              <a:rPr/>
              <a:t> episode (the one who succeeded with the maximum number of timesteps without failing).</a:t>
            </a:r>
          </a:p>
          <a:p>
            <a:pPr lvl="0"/>
            <a:r>
              <a:rPr b="1"/>
              <a:t>X-axis</a:t>
            </a:r>
            <a:r>
              <a:rPr/>
              <a:t>: Timestep within the episode.</a:t>
            </a:r>
          </a:p>
          <a:p>
            <a:pPr lvl="0"/>
            <a:r>
              <a:rPr b="1"/>
              <a:t>Y-axis</a:t>
            </a:r>
            <a:r>
              <a:rPr/>
              <a:t>: Values of system variables (cart position, pole angle, etc.).</a:t>
            </a:r>
          </a:p>
          <a:p>
            <a:pPr lvl="0"/>
            <a:r>
              <a:rPr b="1"/>
              <a:t>Interpretation</a:t>
            </a:r>
            <a:r>
              <a:rPr/>
              <a:t>: The plot shows how state variables evolve over time, alongside the (random) control actions. It gives insight into how actions affect the system dynamics, even if the control policy is not optimal.</a:t>
            </a:r>
          </a:p>
          <a:p>
            <a:pPr lvl="0"/>
            <a:r>
              <a:rPr b="1"/>
              <a:t>Insight:</a:t>
            </a:r>
            <a:r>
              <a:rPr/>
              <a:t> The pole angle stays close to zero for a short period before drifting too far, causing the episode to end. The action signal is erratic, even in this “successful” run. This shows that the agent has no control strategy—only chance kept the system balanced briefly.</a:t>
            </a:r>
          </a:p>
          <a:p>
            <a:pPr lvl="0" indent="0" marL="0">
              <a:spcBef>
                <a:spcPts val="3000"/>
              </a:spcBef>
              <a:buNone/>
            </a:pPr>
            <a:r>
              <a:rPr b="1"/>
              <a:t>Reward per Episode</a:t>
            </a:r>
          </a:p>
        </p:txBody>
      </p:sp>
      <p:pic>
        <p:nvPicPr>
          <p:cNvPr descr="media/rId69.png" id="0" name="Picture 1"/>
          <p:cNvPicPr>
            <a:picLocks noGrp="1" noChangeAspect="1"/>
          </p:cNvPicPr>
          <p:nvPr/>
        </p:nvPicPr>
        <p:blipFill>
          <a:blip r:embed="rId5"/>
          <a:stretch>
            <a:fillRect/>
          </a:stretch>
        </p:blipFill>
        <p:spPr bwMode="auto">
          <a:xfrm>
            <a:off x="3568700" y="901700"/>
            <a:ext cx="5105400" cy="2971800"/>
          </a:xfrm>
          <a:prstGeom prst="rect">
            <a:avLst/>
          </a:prstGeom>
          <a:noFill/>
          <a:ln w="9525">
            <a:noFill/>
            <a:headEnd/>
            <a:tailEnd/>
          </a:ln>
        </p:spPr>
      </p:pic>
      <mc:AlternateContent xmlns:mc="http://schemas.openxmlformats.org/markup-compatibility/2006">
        <mc:Choice xmlns:a14="http://schemas.microsoft.com/office/drawing/2010/main" Requires="a14">
          <p:sp>
            <p:nvSpPr>
              <p:cNvPr id="3" name="Content Placeholder 2"/>
              <p:cNvSpPr>
                <a:spLocks noGrp="1"/>
              </p:cNvSpPr>
              <p:nvPr>
                <p:ph idx="1"/>
              </p:nvPr>
            </p:nvSpPr>
            <p:spPr/>
            <p:txBody>
              <a:bodyPr/>
              <a:lstStyle/>
              <a:p>
                <a:pPr lvl="0" indent="0" marL="0">
                  <a:buNone/>
                </a:pPr>
                <a:r>
                  <a:rPr/>
                  <a:t>This bar chart summarizes the total reward earned in each episode.</a:t>
                </a:r>
              </a:p>
              <a:p>
                <a:pPr lvl="0"/>
                <a:r>
                  <a:rPr b="1"/>
                  <a:t>X-axis</a:t>
                </a:r>
                <a:r>
                  <a:rPr/>
                  <a:t>: Episode index.</a:t>
                </a:r>
              </a:p>
              <a:p>
                <a:pPr lvl="0"/>
                <a:r>
                  <a:rPr b="1"/>
                  <a:t>Y-axis</a:t>
                </a:r>
                <a:r>
                  <a:rPr/>
                  <a:t>: Total reward (equivalent to episode duration).</a:t>
                </a:r>
              </a:p>
              <a:p>
                <a:pPr lvl="0"/>
                <a:r>
                  <a:rPr b="1"/>
                  <a:t>Interpretation</a:t>
                </a:r>
                <a:r>
                  <a:rPr/>
                  <a:t>: With random actions, episode rewards fluctuate without any trend. Most bars are short (early failures), with a few taller bars (lucky long runs). A red dashed line indicates the average reward across episodes, which remains low for a random agent.</a:t>
                </a:r>
              </a:p>
              <a:p>
                <a:pPr lvl="0"/>
                <a:r>
                  <a:rPr b="1"/>
                  <a:t>Insight:</a:t>
                </a:r>
                <a:r>
                  <a:rPr/>
                  <a:t> The reward (i.e., duration) fluctuates randomly across the </a:t>
                </a:r>
                <a14:m>
                  <m:oMath xmlns:m="http://schemas.openxmlformats.org/officeDocument/2006/math">
                    <m:r>
                      <m:t>50</m:t>
                    </m:r>
                  </m:oMath>
                </a14:m>
                <a:r>
                  <a:rPr/>
                  <a:t> episodes, with no upward trend. The average reward (red dashed line) is very low. This reinforces that the agent is not learning or improving. Its success is erratic and depends entirely on luck.</a:t>
                </a:r>
              </a:p>
            </p:txBody>
          </p:sp>
        </mc:Choice>
      </mc:AlternateContent>
    </p:spTree>
  </p:cSld>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1" y="204787"/>
            <a:ext cx="3008313" cy="871538"/>
          </a:xfrm>
        </p:spPr>
        <p:txBody>
          <a:bodyPr/>
          <a:lstStyle/>
          <a:p>
            <a:pPr lvl="0" indent="0" marL="0">
              <a:buNone/>
            </a:pPr>
            <a:r>
              <a:rPr/>
              <a:t>Conclusion and Improvements</a:t>
            </a:r>
          </a:p>
        </p:txBody>
      </p:sp>
      <mc:AlternateContent xmlns:mc="http://schemas.openxmlformats.org/markup-compatibility/2006">
        <mc:Choice xmlns:a14="http://schemas.microsoft.com/office/drawing/2010/main" Requires="a14">
          <p:sp>
            <p:nvSpPr>
              <p:cNvPr id="4" name="Text Placeholder 3"/>
              <p:cNvSpPr>
                <a:spLocks noGrp="1"/>
              </p:cNvSpPr>
              <p:nvPr>
                <p:ph idx="2" sz="half" type="body"/>
              </p:nvPr>
            </p:nvSpPr>
            <p:spPr/>
            <p:txBody>
              <a:bodyPr/>
              <a:lstStyle/>
              <a:p>
                <a:pPr lvl="0" indent="0" marL="0">
                  <a:spcBef>
                    <a:spcPts val="3000"/>
                  </a:spcBef>
                  <a:buNone/>
                </a:pPr>
                <a:r>
                  <a:rPr b="1"/>
                  <a:t>Conclusion about Random Agent</a:t>
                </a:r>
              </a:p>
              <a:p>
                <a:pPr lvl="0" indent="0" marL="0">
                  <a:buNone/>
                </a:pPr>
                <a:r>
                  <a:rPr/>
                  <a:t>The four plots paint a clear and consistent picture: a random action strategy is completely inadequate for solving the Inverted Pendulum problem. The agent exhibits no learning or strategic behavior, and its performance relies purely on chance. These results establish a quantitative baseline for failure, against which more advanced control and reinforcement learning approaches can be compared.</a:t>
                </a:r>
              </a:p>
              <a:p>
                <a:pPr lvl="0" indent="0" marL="0">
                  <a:spcBef>
                    <a:spcPts val="3000"/>
                  </a:spcBef>
                  <a:buNone/>
                </a:pPr>
                <a:r>
                  <a:rPr b="1"/>
                  <a:t>Improvements</a:t>
                </a:r>
              </a:p>
              <a:p>
                <a:pPr lvl="0" indent="0" marL="0">
                  <a:buNone/>
                </a:pPr>
                <a:r>
                  <a:rPr/>
                  <a:t>Here we outline one of the potential improvements that can be employed to achieve meaningful control of the Inverted Pendulum.</a:t>
                </a:r>
              </a:p>
              <a:p>
                <a:pPr lvl="0" indent="0" marL="0">
                  <a:buNone/>
                </a:pPr>
                <a:r>
                  <a:rPr/>
                  <a:t>The current random agent provides a baseline, but it cannot learn or adapt. The following improvements describe how to create a more intelligent agent that learns to balance the Inverted Pendulum effectively.</a:t>
                </a:r>
              </a:p>
              <a:p>
                <a:pPr lvl="0" indent="0" marL="0">
                  <a:spcBef>
                    <a:spcPts val="3000"/>
                  </a:spcBef>
                  <a:buNone/>
                </a:pPr>
                <a:r>
                  <a:rPr b="1"/>
                  <a:t>Implement a Reinforcement Learning Algorithm</a:t>
                </a:r>
              </a:p>
              <a:p>
                <a:pPr lvl="0" indent="0" marL="0">
                  <a:buNone/>
                </a:pPr>
                <a:r>
                  <a:rPr/>
                  <a:t>The fundamental change is to replace the random action selection with a learning algorithm. Instead of guessing, the agent will have a </a:t>
                </a:r>
                <a:r>
                  <a:rPr i="1"/>
                  <a:t>policy</a:t>
                </a:r>
                <a:r>
                  <a:rPr/>
                  <a:t> that it improves over time. For the Inverted Pendulum problem, the recommended approach is to use a Reinforcement Learning (RL) algorithm, which is </a:t>
                </a:r>
                <a:r>
                  <a:rPr b="1"/>
                  <a:t>Proximal Policy Optimization (PPO)</a:t>
                </a:r>
                <a:r>
                  <a:rPr/>
                  <a:t> in this case.</a:t>
                </a:r>
              </a:p>
              <a:p>
                <a:pPr lvl="0" indent="0" marL="0">
                  <a:buNone/>
                </a:pPr>
                <a:r>
                  <a:rPr/>
                  <a:t>PPO is a powerful, stable, and widely used RL algorithm. It works exceptionally well for control problems like the Inverted Pendulum and is a great starting point to achieve strong results.</a:t>
                </a:r>
              </a:p>
              <a:p>
                <a:pPr lvl="0" indent="0" marL="0">
                  <a:spcBef>
                    <a:spcPts val="3000"/>
                  </a:spcBef>
                  <a:buNone/>
                </a:pPr>
                <a:r>
                  <a:rPr b="1"/>
                  <a:t>Use a Reinforcement Learning Library</a:t>
                </a:r>
              </a:p>
              <a:p>
                <a:pPr lvl="0" indent="0" marL="0">
                  <a:buNone/>
                </a:pPr>
                <a:r>
                  <a:rPr/>
                  <a:t>Implementing PPO from scratch is complex. Hence we are using a pre-built library that handles the low-level details, </a:t>
                </a:r>
                <a:r>
                  <a:rPr b="1"/>
                  <a:t>Library: Stable Baselines3</a:t>
                </a:r>
                <a:r>
                  <a:rPr/>
                  <a:t> which integrates seamlessly with Gymnasium environments and simplifies training a powerful agent.</a:t>
                </a:r>
              </a:p>
              <a:p>
                <a:pPr lvl="0" indent="0" marL="0">
                  <a:spcBef>
                    <a:spcPts val="3000"/>
                  </a:spcBef>
                  <a:buNone/>
                </a:pPr>
                <a:r>
                  <a:rPr b="1"/>
                  <a:t>Train the Agent</a:t>
                </a:r>
              </a:p>
              <a:p>
                <a:pPr lvl="0" indent="-342900" marL="342900">
                  <a:buAutoNum type="arabicPeriod"/>
                </a:pPr>
                <a:r>
                  <a:rPr b="1"/>
                  <a:t>Training Phase</a:t>
                </a:r>
                <a:r>
                  <a:rPr/>
                  <a:t> In this phase, the agent interacts with the environment to learn a policy. The Stable Baselines3 library handles the underlying RL loop:</a:t>
                </a:r>
              </a:p>
              <a:p>
                <a:pPr lvl="1"/>
                <a:r>
                  <a:rPr/>
                  <a:t>The agent interacts with the environment to collect experience.</a:t>
                </a:r>
              </a:p>
              <a:p>
                <a:pPr lvl="1"/>
                <a:r>
                  <a:rPr/>
                  <a:t>It uses that experience to update its policy.</a:t>
                </a:r>
              </a:p>
              <a:p>
                <a:pPr lvl="1"/>
                <a:r>
                  <a:rPr/>
                  <a:t>This process repeats for a specified number of steps (e.g., 10k, 20k), progressively improving the agent’s ability to balance the pole.</a:t>
                </a:r>
              </a:p>
              <a:p>
                <a:pPr lvl="0" indent="-342900" marL="342900">
                  <a:buAutoNum type="arabicPeriod"/>
                </a:pPr>
                <a:r>
                  <a:rPr b="1"/>
                  <a:t>Evaluation Phase</a:t>
                </a:r>
              </a:p>
              <a:p>
                <a:pPr lvl="0"/>
                <a:r>
                  <a:rPr/>
                  <a:t>After training, the saved trained model is used to control the environment:</a:t>
                </a:r>
              </a:p>
              <a:p>
                <a:pPr lvl="1"/>
                <a:r>
                  <a:rPr/>
                  <a:t>Instead of choosing random actions, the trained model predicts the optimal action at each step.</a:t>
                </a:r>
              </a:p>
              <a:p>
                <a:pPr lvl="1"/>
                <a:r>
                  <a:rPr/>
                  <a:t>The agent can now balance the pole for much longer durations, often reaching the full episode limit (e.g., 1,000 steps), demonstrating learned control.</a:t>
                </a:r>
              </a:p>
              <a:p>
                <a:pPr lvl="0" indent="0" marL="0">
                  <a:buNone/>
                </a:pPr>
                <a:r>
                  <a:rPr/>
                  <a:t>By switching from random actions to a PPO-based policy, the agent transitions from purely chance-driven behavior to intelligent, goal-directed control.</a:t>
                </a:r>
              </a:p>
              <a:p>
                <a:pPr lvl="0" indent="0" marL="0">
                  <a:spcBef>
                    <a:spcPts val="3000"/>
                  </a:spcBef>
                  <a:buNone/>
                </a:pPr>
                <a:r>
                  <a:rPr b="1"/>
                  <a:t>Analysis of Simulation Plots</a:t>
                </a:r>
              </a:p>
              <a:p>
                <a:pPr lvl="0" indent="0" marL="0">
                  <a:buNone/>
                </a:pPr>
                <a:r>
                  <a:rPr/>
                  <a:t>The following plots were generated for (</a:t>
                </a:r>
                <a14:m>
                  <m:oMath xmlns:m="http://schemas.openxmlformats.org/officeDocument/2006/math">
                    <m:r>
                      <m:t>N</m:t>
                    </m:r>
                    <m:r>
                      <m:rPr>
                        <m:sty m:val="p"/>
                      </m:rPr>
                      <m:t>=</m:t>
                    </m:r>
                    <m:r>
                      <m:t>50</m:t>
                    </m:r>
                  </m:oMath>
                </a14:m>
                <a:r>
                  <a:rPr/>
                  <a:t>) numbers of episodes. Each plot provides a different perspective on the behavior of the inverted pendulum under random actions.</a:t>
                </a:r>
              </a:p>
              <a:p>
                <a:pPr lvl="0" indent="0" marL="0">
                  <a:spcBef>
                    <a:spcPts val="3000"/>
                  </a:spcBef>
                  <a:buNone/>
                </a:pPr>
                <a:r>
                  <a:rPr b="1"/>
                  <a:t>Histogram of Episode Durations</a:t>
                </a:r>
              </a:p>
            </p:txBody>
          </p:sp>
        </mc:Choice>
      </mc:AlternateContent>
      <p:pic>
        <p:nvPicPr>
          <p:cNvPr descr="media/rId81.png" id="0" name="Picture 1"/>
          <p:cNvPicPr>
            <a:picLocks noGrp="1" noChangeAspect="1"/>
          </p:cNvPicPr>
          <p:nvPr/>
        </p:nvPicPr>
        <p:blipFill>
          <a:blip r:embed="rId2"/>
          <a:stretch>
            <a:fillRect/>
          </a:stretch>
        </p:blipFill>
        <p:spPr bwMode="auto">
          <a:xfrm>
            <a:off x="3568700" y="863600"/>
            <a:ext cx="5105400" cy="3060700"/>
          </a:xfrm>
          <a:prstGeom prst="rect">
            <a:avLst/>
          </a:prstGeom>
          <a:noFill/>
          <a:ln w="9525">
            <a:noFill/>
            <a:headEnd/>
            <a:tailEnd/>
          </a:ln>
        </p:spPr>
      </p:pic>
      <p:sp>
        <p:nvSpPr>
          <p:cNvPr id="3" name="Content Placeholder 2"/>
          <p:cNvSpPr>
            <a:spLocks noGrp="1"/>
          </p:cNvSpPr>
          <p:nvPr>
            <p:ph idx="1"/>
          </p:nvPr>
        </p:nvSpPr>
        <p:spPr/>
        <p:txBody>
          <a:bodyPr/>
          <a:lstStyle/>
          <a:p>
            <a:pPr lvl="0" indent="0" marL="0">
              <a:buNone/>
            </a:pPr>
            <a:r>
              <a:rPr/>
              <a:t>This plot serves as the main performance indicator, showing how successful the random agent was at balancing the pole.</a:t>
            </a:r>
          </a:p>
          <a:p>
            <a:pPr lvl="0"/>
            <a:r>
              <a:rPr b="1"/>
              <a:t>Observation:</a:t>
            </a:r>
            <a:r>
              <a:rPr/>
              <a:t> The histogram of episode durations exhibits a bimodal distribution. A good number of the episodes successfully reach the 1,000-step truncation limit, as indicated by the prominent peak on the far right. However, other cluster of episodes terminate prematurely at various shorter durations.</a:t>
            </a:r>
          </a:p>
          <a:p>
            <a:pPr lvl="0"/>
            <a:r>
              <a:rPr b="1"/>
              <a:t>Conclusion:</a:t>
            </a:r>
            <a:r>
              <a:rPr/>
              <a:t> This distribution signifies a policy that is successful under most tested conditions but is not yet robust enough to generalize to all possible states. The agent has clearly learned the primary stabilization task, but its strategy fails when encountering certain less-frequently experienced or more challenging state-space regions.</a:t>
            </a:r>
          </a:p>
          <a:p>
            <a:pPr lvl="0" indent="0" marL="0">
              <a:spcBef>
                <a:spcPts val="3000"/>
              </a:spcBef>
              <a:buNone/>
            </a:pPr>
            <a:r>
              <a:rPr b="1"/>
              <a:t>Phase Plot: Pole Angle vs. Angular Velocity</a:t>
            </a:r>
          </a:p>
        </p:txBody>
      </p:sp>
      <p:pic>
        <p:nvPicPr>
          <p:cNvPr descr="media/rId86.png" id="0" name="Picture 1"/>
          <p:cNvPicPr>
            <a:picLocks noGrp="1" noChangeAspect="1"/>
          </p:cNvPicPr>
          <p:nvPr/>
        </p:nvPicPr>
        <p:blipFill>
          <a:blip r:embed="rId3"/>
          <a:stretch>
            <a:fillRect/>
          </a:stretch>
        </p:blipFill>
        <p:spPr bwMode="auto">
          <a:xfrm>
            <a:off x="3568700" y="863600"/>
            <a:ext cx="5105400" cy="3060700"/>
          </a:xfrm>
          <a:prstGeom prst="rect">
            <a:avLst/>
          </a:prstGeom>
          <a:noFill/>
          <a:ln w="9525">
            <a:noFill/>
            <a:headEnd/>
            <a:tailEnd/>
          </a:ln>
        </p:spPr>
      </p:pic>
      <mc:AlternateContent xmlns:mc="http://schemas.openxmlformats.org/markup-compatibility/2006">
        <mc:Choice xmlns:a14="http://schemas.microsoft.com/office/drawing/2010/main" Requires="a14">
          <p:sp>
            <p:nvSpPr>
              <p:cNvPr id="3" name="Content Placeholder 2"/>
              <p:cNvSpPr>
                <a:spLocks noGrp="1"/>
              </p:cNvSpPr>
              <p:nvPr>
                <p:ph idx="1"/>
              </p:nvPr>
            </p:nvSpPr>
            <p:spPr/>
            <p:txBody>
              <a:bodyPr/>
              <a:lstStyle/>
              <a:p>
                <a:pPr lvl="0" indent="0" marL="0">
                  <a:buNone/>
                </a:pPr>
                <a:r>
                  <a:rPr/>
                  <a:t>This phase-space plot captures the underlying physical dynamics of the pendulum.</a:t>
                </a:r>
              </a:p>
              <a:p>
                <a:pPr lvl="0"/>
                <a:r>
                  <a:rPr b="1"/>
                  <a:t>Observation:</a:t>
                </a:r>
                <a:r>
                  <a:rPr/>
                  <a:t> The phase points are tightly clustered around the origin </a:t>
                </a:r>
                <a14:m>
                  <m:oMath xmlns:m="http://schemas.openxmlformats.org/officeDocument/2006/math">
                    <m:r>
                      <m:rPr>
                        <m:sty m:val="p"/>
                      </m:rPr>
                      <m:t>(</m:t>
                    </m:r>
                    <m:r>
                      <m:t>0</m:t>
                    </m:r>
                    <m:r>
                      <m:rPr>
                        <m:sty m:val="p"/>
                      </m:rPr>
                      <m:t>,</m:t>
                    </m:r>
                    <m:r>
                      <m:t>0</m:t>
                    </m:r>
                    <m:r>
                      <m:rPr>
                        <m:sty m:val="p"/>
                      </m:rPr>
                      <m:t>)</m:t>
                    </m:r>
                  </m:oMath>
                </a14:m>
                <a:r>
                  <a:rPr/>
                  <a:t>, very similar to the perfectly trained case.</a:t>
                </a:r>
              </a:p>
              <a:p>
                <a:pPr lvl="0"/>
                <a:r>
                  <a:rPr b="1"/>
                  <a:t>Conclusion:</a:t>
                </a:r>
                <a:r>
                  <a:rPr/>
                  <a:t> This indicates that the agent maintains the pendulum in a balanced and stable state for most of the time. The rare failures are too brief to affect this plot significantly.</a:t>
                </a:r>
              </a:p>
              <a:p>
                <a:pPr lvl="0" indent="0" marL="0">
                  <a:spcBef>
                    <a:spcPts val="3000"/>
                  </a:spcBef>
                  <a:buNone/>
                </a:pPr>
                <a:r>
                  <a:rPr b="1"/>
                  <a:t>Time Series of the Longest Episode</a:t>
                </a:r>
              </a:p>
            </p:txBody>
          </p:sp>
        </mc:Choice>
      </mc:AlternateContent>
      <p:pic>
        <p:nvPicPr>
          <p:cNvPr descr="media/rId91.png" id="0" name="Picture 1"/>
          <p:cNvPicPr>
            <a:picLocks noGrp="1" noChangeAspect="1"/>
          </p:cNvPicPr>
          <p:nvPr/>
        </p:nvPicPr>
        <p:blipFill>
          <a:blip r:embed="rId4"/>
          <a:stretch>
            <a:fillRect/>
          </a:stretch>
        </p:blipFill>
        <p:spPr bwMode="auto">
          <a:xfrm>
            <a:off x="3568700" y="939800"/>
            <a:ext cx="5105400" cy="2921000"/>
          </a:xfrm>
          <a:prstGeom prst="rect">
            <a:avLst/>
          </a:prstGeom>
          <a:noFill/>
          <a:ln w="9525">
            <a:noFill/>
            <a:headEnd/>
            <a:tailEnd/>
          </a:ln>
        </p:spPr>
      </p:pic>
      <p:sp>
        <p:nvSpPr>
          <p:cNvPr id="3" name="Content Placeholder 2"/>
          <p:cNvSpPr>
            <a:spLocks noGrp="1"/>
          </p:cNvSpPr>
          <p:nvPr>
            <p:ph idx="1"/>
          </p:nvPr>
        </p:nvSpPr>
        <p:spPr/>
        <p:txBody>
          <a:bodyPr/>
          <a:lstStyle/>
          <a:p>
            <a:pPr lvl="0" indent="0" marL="0">
              <a:buNone/>
            </a:pPr>
            <a:r>
              <a:rPr/>
              <a:t>This plot highlights the trajectory of the </a:t>
            </a:r>
            <a:r>
              <a:rPr i="1"/>
              <a:t>most successful</a:t>
            </a:r>
            <a:r>
              <a:rPr/>
              <a:t> episode.</a:t>
            </a:r>
          </a:p>
          <a:p>
            <a:pPr lvl="0"/>
            <a:r>
              <a:rPr b="1"/>
              <a:t>Observation:</a:t>
            </a:r>
            <a:r>
              <a:rPr/>
              <a:t> The 1000-step run demonstrates that the pole’s angle is controlled effectively, with smooth and deliberate actions rather than random movements.</a:t>
            </a:r>
          </a:p>
          <a:p>
            <a:pPr lvl="0"/>
            <a:r>
              <a:rPr b="1"/>
              <a:t>Conclusion:</a:t>
            </a:r>
            <a:r>
              <a:rPr/>
              <a:t> This confirms that the agent has indeed learned the </a:t>
            </a:r>
            <a:r>
              <a:rPr i="1"/>
              <a:t>correct control strategy</a:t>
            </a:r>
            <a:r>
              <a:rPr/>
              <a:t>. When it succeeds, it does so with skill, not by chance.</a:t>
            </a:r>
          </a:p>
          <a:p>
            <a:pPr lvl="0" indent="0" marL="0">
              <a:spcBef>
                <a:spcPts val="3000"/>
              </a:spcBef>
              <a:buNone/>
            </a:pPr>
            <a:r>
              <a:rPr b="1"/>
              <a:t>Reward per Episode</a:t>
            </a:r>
          </a:p>
        </p:txBody>
      </p:sp>
      <p:pic>
        <p:nvPicPr>
          <p:cNvPr descr="media/rId96.png" id="0" name="Picture 1"/>
          <p:cNvPicPr>
            <a:picLocks noGrp="1" noChangeAspect="1"/>
          </p:cNvPicPr>
          <p:nvPr/>
        </p:nvPicPr>
        <p:blipFill>
          <a:blip r:embed="rId5"/>
          <a:stretch>
            <a:fillRect/>
          </a:stretch>
        </p:blipFill>
        <p:spPr bwMode="auto">
          <a:xfrm>
            <a:off x="3568700" y="901700"/>
            <a:ext cx="5105400" cy="2971800"/>
          </a:xfrm>
          <a:prstGeom prst="rect">
            <a:avLst/>
          </a:prstGeom>
          <a:noFill/>
          <a:ln w="9525">
            <a:noFill/>
            <a:headEnd/>
            <a:tailEnd/>
          </a:ln>
        </p:spPr>
      </p:pic>
      <mc:AlternateContent xmlns:mc="http://schemas.openxmlformats.org/markup-compatibility/2006">
        <mc:Choice xmlns:a14="http://schemas.microsoft.com/office/drawing/2010/main" Requires="a14">
          <p:sp>
            <p:nvSpPr>
              <p:cNvPr id="3" name="Content Placeholder 2"/>
              <p:cNvSpPr>
                <a:spLocks noGrp="1"/>
              </p:cNvSpPr>
              <p:nvPr>
                <p:ph idx="1"/>
              </p:nvPr>
            </p:nvSpPr>
            <p:spPr/>
            <p:txBody>
              <a:bodyPr/>
              <a:lstStyle/>
              <a:p>
                <a:pPr lvl="0" indent="0" marL="0">
                  <a:buNone/>
                </a:pPr>
                <a:r>
                  <a:rPr/>
                  <a:t>This bar chart summarizes the total reward earned in each episode.</a:t>
                </a:r>
              </a:p>
              <a:p>
                <a:pPr lvl="0"/>
                <a:r>
                  <a:rPr b="1"/>
                  <a:t>Observation:</a:t>
                </a:r>
                <a:r>
                  <a:rPr/>
                  <a:t> The bar chart displays the total reward for each of the 50 evaluation episodes. The vast majority of episodes achieve the maximum possible reward of 1000, as shown by the consistently tall bars. However, a small number of episodes terminate prematurely, resulting in lower rewards.</a:t>
                </a:r>
              </a:p>
              <a:p>
                <a:pPr lvl="0"/>
                <a:r>
                  <a:rPr b="1"/>
                  <a:t>Insight:</a:t>
                </a:r>
                <a:r>
                  <a:rPr/>
                  <a:t> The agent has successfully learned a highly effective control policy, transitioning from the chaotic, low-performance behavior of a random agent to a skilled, strategic one.</a:t>
                </a:r>
              </a:p>
              <a:p>
                <a:pPr lvl="0" indent="0" marL="0">
                  <a:spcBef>
                    <a:spcPts val="3000"/>
                  </a:spcBef>
                  <a:buNone/>
                </a:pPr>
                <a:r>
                  <a:rPr b="1"/>
                  <a:t>Final Conclusion</a:t>
                </a:r>
              </a:p>
              <a:p>
                <a:pPr lvl="0"/>
                <a:r>
                  <a:rPr/>
                  <a:t>The agent trained for </a:t>
                </a:r>
                <a14:m>
                  <m:oMath xmlns:m="http://schemas.openxmlformats.org/officeDocument/2006/math">
                    <m:r>
                      <m:t>10</m:t>
                    </m:r>
                    <m:r>
                      <m:rPr>
                        <m:sty m:val="p"/>
                      </m:rPr>
                      <m:t>,</m:t>
                    </m:r>
                    <m:r>
                      <m:t>000</m:t>
                    </m:r>
                  </m:oMath>
                </a14:m>
                <a:r>
                  <a:rPr/>
                  <a:t> timesteps demonstrates a fundamentally different and vastly superior mode of operation compared to the baseline random policy.</a:t>
                </a:r>
              </a:p>
              <a:p>
                <a:pPr lvl="0"/>
                <a:r>
                  <a:rPr/>
                  <a:t>The random policy is an open-loop strategy, where actions are independent of the system state. This leads to:</a:t>
                </a:r>
              </a:p>
              <a:p>
                <a:pPr lvl="1"/>
                <a:r>
                  <a:rPr/>
                  <a:t>rapid system divergence,</a:t>
                </a:r>
              </a:p>
              <a:p>
                <a:pPr lvl="1"/>
                <a:r>
                  <a:rPr/>
                  <a:t>uniformly poor performance,</a:t>
                </a:r>
              </a:p>
              <a:p>
                <a:pPr lvl="1"/>
                <a:r>
                  <a:rPr/>
                  <a:t>complete inability to stabilize the pendulum,</a:t>
                </a:r>
              </a:p>
              <a:p>
                <a:pPr lvl="1"/>
                <a:r>
                  <a:rPr/>
                  <a:t>universally short episode durations.</a:t>
                </a:r>
              </a:p>
              <a:p>
                <a:pPr lvl="0"/>
                <a:r>
                  <a:rPr/>
                  <a:t>In contrast, the trained policy is a closed-loop control strategy that maps states to actions effectively. Its advantages include:</a:t>
                </a:r>
              </a:p>
              <a:p>
                <a:pPr lvl="1"/>
                <a:r>
                  <a:rPr b="1"/>
                  <a:t>Achieving Stability:</a:t>
                </a:r>
                <a:r>
                  <a:rPr/>
                  <a:t> actively drives the system state towards the stable equilibrium point, unlike the random policy which accelerates divergence.</a:t>
                </a:r>
              </a:p>
              <a:p>
                <a:pPr lvl="1"/>
                <a:r>
                  <a:rPr b="1"/>
                  <a:t>Sustaining Performance:</a:t>
                </a:r>
                <a:r>
                  <a:rPr/>
                  <a:t> balances the pendulum up to the maximum time limit in most trials, a feat statistically impossible for a random policy.</a:t>
                </a:r>
              </a:p>
              <a:p>
                <a:pPr lvl="1"/>
                <a:r>
                  <a:rPr b="1"/>
                  <a:t>Exhibiting Skillful Control:</a:t>
                </a:r>
                <a:r>
                  <a:rPr/>
                  <a:t> actions are deliberate and corrective, opposing the system’s unstable dynamics, unlike the uncorrelated and ineffective actions of the random policy.</a:t>
                </a:r>
              </a:p>
              <a:p>
                <a:pPr lvl="0" indent="0" marL="0">
                  <a:buNone/>
                </a:pPr>
                <a:r>
                  <a:rPr/>
                  <a:t>Furthermore, increasing the training horizon, i.e., the </a:t>
                </a:r>
                <a:r>
                  <a:rPr>
                    <a:latin typeface="Courier"/>
                  </a:rPr>
                  <a:t>total_timesteps</a:t>
                </a:r>
                <a:r>
                  <a:rPr/>
                  <a:t>, enhances the</a:t>
                </a:r>
              </a:p>
              <a:p>
                <a:pPr lvl="0" indent="0" marL="0">
                  <a:buNone/>
                </a:pPr>
                <a:r>
                  <a:rPr/>
                  <a:t>agent’s performance. With more training iterations, the agent converges to more accurate</a:t>
                </a:r>
              </a:p>
              <a:p>
                <a:pPr lvl="0" indent="0" marL="0">
                  <a:buNone/>
                </a:pPr>
                <a:r>
                  <a:rPr/>
                  <a:t>policies, yielding greater stability, robustness, and improved control strategies compared</a:t>
                </a:r>
              </a:p>
              <a:p>
                <a:pPr lvl="0" indent="0" marL="0">
                  <a:buNone/>
                </a:pPr>
                <a:r>
                  <a:rPr/>
                  <a:t>to those obtained with fewer training steps.</a:t>
                </a:r>
              </a:p>
            </p:txBody>
          </p:sp>
        </mc:Choice>
      </mc:AlternateContent>
    </p:spTree>
  </p:cSld>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TotalTime>
  <Words>49</Words>
  <Application>Microsoft Macintosh PowerPoint</Application>
  <PresentationFormat>On-screen Show (16:9)</PresentationFormat>
  <Paragraphs>15</Paragraphs>
  <Slides>4</Slides>
  <Notes>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vt:i4>
      </vt:variant>
    </vt:vector>
  </HeadingPairs>
  <TitlesOfParts>
    <vt:vector size="7" baseType="lpstr">
      <vt:lpstr>Arial</vt:lpstr>
      <vt:lpstr>Calibri</vt:lpstr>
      <vt:lpstr>Office Theme</vt:lpstr>
      <vt:lpstr>Presentation Title</vt:lpstr>
      <vt:lpstr>Slide Title</vt:lpstr>
      <vt:lpstr>Section header</vt:lpstr>
      <vt:lpstr>Slide Title for Two-Content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BTP Report</dc:title>
  <dc:creator>Himani Sharma 2022102032</dc:creator>
  <cp:keywords/>
  <dcterms:created xsi:type="dcterms:W3CDTF">2025-09-14T06:40:53Z</dcterms:created>
  <dcterms:modified xsi:type="dcterms:W3CDTF">2025-09-14T06:40:53Z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date">
    <vt:lpwstr>September 2025</vt:lpwstr>
  </property>
</Properties>
</file>